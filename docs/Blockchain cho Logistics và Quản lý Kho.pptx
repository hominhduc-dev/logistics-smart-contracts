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mọi người. Đề tài của em là áp dụng blockchain vào logistics: theo dõi lô hàng và quản lý tồn kho bằng smart contract viết bằng Solidity. Toàn bộ mã nguồn nằm trong repo logistics-smart-contracts trên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chuỗi cung ứng có rất nhiều bên tham gia. Mỗi bên giữ một bản dữ liệu riêng, nên khi có sự cố thì rất khó đối chiếu: ai giữ hàng lúc nào, ai sửa trạng thái. Đây là chỗ blockchain có thể giúp.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Thay vì mỗi bên một cơ sở dữ liệu, tất cả cùng ghi lên một smart contract. Bốn tính chất: danh tính bằng ví, lịch sử chỉ ghi thêm, quy tắc nghiệp vụ nằm trong code, và event cho ứng dụng theo dõi theo thời gian thực.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 gồm hai hợp đồng. LogisticsTracking lo vòng đời lô hàng, Warehouse lo tồn kho giữa nhà cung cấp, kho và siêu thị. Mỗi hợp đồng implement một interface riêng, nên hợp đồng khác chỉ cần địa chỉ là gọi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một: hợp đồng theo dõi lô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Lô hàng đi qua bốn trạng thái chính: Created, PickedUp, InTransit, Delivered. Người gửi có thể hủy khi đơn còn ở Created hoặc PickedUp. Sau khi Delivered hoặc Cancelled thì không ai cập nhật được nữa. Lưu ý trung thực: bản hiện tại chưa ép thứ tự trạng thái, sơ đồ này là luồng nghiệp vụ dự kiến.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Hàm createShipment được người gửi gọi. ID tự tăng, trạng thái khởi đầu là Created, và dòng lịch sử đầu tiên được ghi ngay. Người gửi chính là msg.sender nên không ai tạo đơn thay tên người khác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hàng di chuyển, một trong ba bên gọi updateStatus. Hàm kiểm tra tuần tự bằng các lệnh require viết trực tiếp trong thân hàm: lô hàng phải tồn tại, người gọi phải là người gửi, đơn vị vận chuyển hoặc người nhận, đơn chưa giao, chưa hủy và không quay lại Created. Mỗi lần gọi thêm một dòng StatusUpdate vào lịch sử, kèm thời gian và ví của người cập nhật.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các quy tắc nghiệp vụ mà không ai bỏ qua được, vì chúng nằm trong code của hợp đồng. Mỗi quy tắc là một lệnh require viết trực tiếp trong hàm, không dùng modifier, nên đọc code là thấy ngay điều kiện. Thông báo trên slide được viết lại có dấu cho dễ đọc; trong code, chuỗi revert là tiếng Việt không dấu (ví dụ "Ban khong lien quan den don hang nay"). Mỗi trường hợp đều đã có kịch bản kiểm thử trong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tuần tự tóm tắt cách các bên gọi hợp đồng LogisticsTracking theo thời gian. Người gửi gọi createShipment, hợp đồng phát event ShipmentCreated và trả về mã lô hàng. Đơn vị vận chuyển gọi updateStatus qua các chặng PickedUp, InTransit, rồi Delivered; mỗi lần hợp đồng phát event để dApp cập nhật (khi Delivered còn phát thêm ShipmentDelivered). Người nhận gọi getHistory để xem toàn bộ lịch sử. Trường hợp ngoại lệ: người gửi hủy đơn bằng cancelShipment khi đơn còn Created hoặc PickedUp, hợp đồng phát ShipmentCancelled. Sơ đồ dựa trên file diagrams/logistics-shipment.sequence.json trong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hai: hợp đồng quản lý tồn kho cho kho trung tâm cung cấp hàng cho siêu thị.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Nhà cung cấp nhập hàng vào kho bằng receiveStock. Siêu thị lấy hàng lên kệ bằng takeForShelf. Khi ngừng kinh doanh một sản phẩm, hàng trên kệ trả về kho bằng returnFromShelf. Mỗi sản phẩm có một trong ba trạng thái bên dưới.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takeForShelf là hàm quan trọng nhất của kho. Nếu số lượng không đủ, giao dịch bị revert nên tồn kho không bao giờ âm. Trạng thái được tính lại ngay trong hàm, và event TakenForShelf cho phép siêu thị theo dõi lượng hàng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tuần tự của hợp đồng Warehouse. Nhà cung cấp gọi receiveStock để nhập hàng, hợp đồng phát StockReceived. Siêu thị kiểm tra tồn kho bằng getStock rồi gọi takeForShelf để lấy hàng lên kệ, hợp đồng phát TakenForShelf. Khi ngừng kinh doanh, siêu thị gọi returnFromShelf, hợp đồng phát ReturnedToWarehouse. Ngoại lệ: nếu lấy nhiều hơn số tồn, giao dịch bị revert với "Not enough stock in warehouse" và tồn kho không thay đổi. Lưu ý: bản hiện tại chưa phân quyền, địa chỉ nào cũng gọi được các hàm ghi. Sơ đồ dựa trên file diagrams/warehouse-stock.sequence.json trong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chứng minh tính khả thi, hợp đồng được biên dịch với Solidity 0.8.24 và chạy trên Remix VM. Đây là kịch bản giao hàng Hà Nội – Đà Nẵng – TP.HCM. Sau bước 4, getHistory trả về đủ bốn dòng lịch sử. README còn có kịch bản hủy đơn và chín trường hợp revert.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mỗi hợp đồng có interface riêng, các bên có thể xây ứng dụng của mình mà không cần biết code bên trong: chỉ cần địa chỉ đã deploy. Đây là điểm giúp hệ thống mở rộng được cho nhiều doanh nghiệp.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hiện tại là bản chứng minh ý tưởng, nên còn một số giới hạn mà README đã ghi rõ. Cột bên phải là các bước tiếp theo để đưa vào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hai hợp đồng Solidity đã cho thấy có thể đưa việc theo dõi lô hàng và tồn kho lên blockchain, với quy tắc nghiệp vụ được thực thi bằng code. Cảm ơn mọi người đã lắng nghe, em xin nhận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slideLayout" Target="../slideLayouts/slideLayout1.xml"/><Relationship Id="rId2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slideLayout" Target="../slideLayouts/slideLayout1.xml"/><Relationship Id="rId1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B35A"/>
                </a:solidFill>
                <a:latin typeface="JetBrains Mono" pitchFamily="34" charset="0"/>
                <a:ea typeface="JetBrains Mono" pitchFamily="34" charset="-122"/>
                <a:cs typeface="JetBrains Mono" pitchFamily="34" charset="-120"/>
              </a:rPr>
              <a:t>SOLIDITY · SMART CONTRACTS</a:t>
            </a:r>
            <a:endParaRPr lang="en-US" sz="1200" dirty="0"/>
          </a:p>
        </p:txBody>
      </p:sp>
      <p:sp>
        <p:nvSpPr>
          <p:cNvPr id="3" name="Text 1"/>
          <p:cNvSpPr/>
          <p:nvPr/>
        </p:nvSpPr>
        <p:spPr>
          <a:xfrm>
            <a:off x="812800" y="2185690"/>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5F2EA"/>
                </a:solidFill>
                <a:latin typeface="Be Vietnam Pro" pitchFamily="34" charset="0"/>
                <a:ea typeface="Be Vietnam Pro" pitchFamily="34" charset="-122"/>
                <a:cs typeface="Be Vietnam Pro" pitchFamily="34" charset="-120"/>
              </a:rPr>
              <a:t>Blockchain cho Logistics</a:t>
            </a:r>
            <a:endParaRPr lang="en-US" sz="5600" dirty="0"/>
          </a:p>
          <a:p>
            <a:pPr algn="l" indent="0" marL="0">
              <a:lnSpc>
                <a:spcPts val="5880"/>
              </a:lnSpc>
              <a:buNone/>
            </a:pPr>
            <a:r>
              <a:rPr lang="en-US" sz="5600" b="1" spc="-100" kern="0" dirty="0">
                <a:solidFill>
                  <a:srgbClr val="F5F2EA"/>
                </a:solidFill>
                <a:latin typeface="Be Vietnam Pro" pitchFamily="34" charset="0"/>
                <a:ea typeface="Be Vietnam Pro" pitchFamily="34" charset="-122"/>
                <a:cs typeface="Be Vietnam Pro" pitchFamily="34" charset="-120"/>
              </a:rPr>
              <a:t>và Quản lý Kho</a:t>
            </a:r>
            <a:endParaRPr lang="en-US" sz="5600" dirty="0"/>
          </a:p>
        </p:txBody>
      </p:sp>
      <p:sp>
        <p:nvSpPr>
          <p:cNvPr id="4" name="Text 2"/>
          <p:cNvSpPr/>
          <p:nvPr/>
        </p:nvSpPr>
        <p:spPr>
          <a:xfrm>
            <a:off x="812800" y="3933130"/>
            <a:ext cx="10883392"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7C3D4"/>
                </a:solidFill>
                <a:latin typeface="Be Vietnam Pro" pitchFamily="34" charset="0"/>
                <a:ea typeface="Be Vietnam Pro" pitchFamily="34" charset="-122"/>
                <a:cs typeface="Be Vietnam Pro" pitchFamily="34" charset="-120"/>
              </a:rPr>
              <a:t>Theo dõi lô hàng và tồn kho minh bạch,</a:t>
            </a:r>
            <a:endParaRPr lang="en-US" sz="2000" dirty="0"/>
          </a:p>
          <a:p>
            <a:pPr algn="l" indent="0" marL="0">
              <a:lnSpc>
                <a:spcPts val="2700"/>
              </a:lnSpc>
              <a:buNone/>
            </a:pPr>
            <a:r>
              <a:rPr lang="en-US" sz="2000" dirty="0">
                <a:solidFill>
                  <a:srgbClr val="B7C3D4"/>
                </a:solidFill>
                <a:latin typeface="Be Vietnam Pro" pitchFamily="34" charset="0"/>
                <a:ea typeface="Be Vietnam Pro" pitchFamily="34" charset="-122"/>
                <a:cs typeface="Be Vietnam Pro" pitchFamily="34" charset="-120"/>
              </a:rPr>
              <a:t>không thể sửa đổi, bằng smart contract</a:t>
            </a:r>
            <a:endParaRPr lang="en-US" sz="2000" dirty="0"/>
          </a:p>
        </p:txBody>
      </p:sp>
      <p:sp>
        <p:nvSpPr>
          <p:cNvPr id="5" name="Text 3"/>
          <p:cNvSpPr/>
          <p:nvPr/>
        </p:nvSpPr>
        <p:spPr>
          <a:xfrm>
            <a:off x="812800" y="5778500"/>
            <a:ext cx="12320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2EA"/>
                </a:solidFill>
                <a:latin typeface="Be Vietnam Pro" pitchFamily="34" charset="0"/>
                <a:ea typeface="Be Vietnam Pro" pitchFamily="34" charset="-122"/>
                <a:cs typeface="Be Vietnam Pro" pitchFamily="34" charset="-120"/>
              </a:rPr>
              <a:t>Hồ Minh Đức</a:t>
            </a:r>
            <a:endParaRPr lang="en-US" sz="1500" dirty="0"/>
          </a:p>
        </p:txBody>
      </p:sp>
      <p:sp>
        <p:nvSpPr>
          <p:cNvPr id="6" name="Text 4"/>
          <p:cNvSpPr/>
          <p:nvPr/>
        </p:nvSpPr>
        <p:spPr>
          <a:xfrm>
            <a:off x="6807200" y="583188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C"/>
                </a:solidFill>
                <a:latin typeface="JetBrains Mono" pitchFamily="34" charset="0"/>
                <a:ea typeface="JetBrains Mono" pitchFamily="34" charset="-122"/>
                <a:cs typeface="JetBrains Mono" pitchFamily="34" charset="-120"/>
              </a:rPr>
              <a:t>github.com/hominhduc-dev/logistics-smart-contracts</a:t>
            </a:r>
            <a:endParaRPr lang="en-US" sz="1200" dirty="0"/>
          </a:p>
        </p:txBody>
      </p:sp>
      <p:sp>
        <p:nvSpPr>
          <p:cNvPr id="7" name="Shape 5"/>
          <p:cNvSpPr/>
          <p:nvPr/>
        </p:nvSpPr>
        <p:spPr>
          <a:xfrm>
            <a:off x="8594725" y="822325"/>
            <a:ext cx="742950" cy="742950"/>
          </a:xfrm>
          <a:prstGeom prst="roundRect">
            <a:avLst>
              <a:gd name="adj" fmla="val 12393"/>
            </a:avLst>
          </a:prstGeom>
          <a:noFill/>
          <a:ln w="19050">
            <a:solidFill>
              <a:srgbClr val="F2B35A"/>
            </a:solidFill>
            <a:prstDash val="solid"/>
          </a:ln>
        </p:spPr>
      </p:sp>
      <p:sp>
        <p:nvSpPr>
          <p:cNvPr id="8" name="Shape 6"/>
          <p:cNvSpPr/>
          <p:nvPr/>
        </p:nvSpPr>
        <p:spPr>
          <a:xfrm>
            <a:off x="9610725" y="822325"/>
            <a:ext cx="742950" cy="742950"/>
          </a:xfrm>
          <a:prstGeom prst="roundRect">
            <a:avLst>
              <a:gd name="adj" fmla="val 12393"/>
            </a:avLst>
          </a:prstGeom>
          <a:noFill/>
          <a:ln w="19050">
            <a:solidFill>
              <a:srgbClr val="F2B35A"/>
            </a:solidFill>
            <a:prstDash val="solid"/>
          </a:ln>
        </p:spPr>
      </p:sp>
      <p:sp>
        <p:nvSpPr>
          <p:cNvPr id="9" name="Shape 7"/>
          <p:cNvSpPr/>
          <p:nvPr/>
        </p:nvSpPr>
        <p:spPr>
          <a:xfrm>
            <a:off x="10617200" y="812800"/>
            <a:ext cx="762000" cy="762000"/>
          </a:xfrm>
          <a:prstGeom prst="roundRect">
            <a:avLst>
              <a:gd name="adj" fmla="val 13333"/>
            </a:avLst>
          </a:prstGeom>
          <a:solidFill>
            <a:srgbClr val="F2B35A"/>
          </a:solidFill>
          <a:ln/>
        </p:spPr>
      </p:sp>
      <p:pic>
        <p:nvPicPr>
          <p:cNvPr id="10" name="Image 0" descr="line">    </p:cNvPr>
          <p:cNvPicPr>
            <a:picLocks noChangeAspect="1"/>
          </p:cNvPicPr>
          <p:nvPr/>
        </p:nvPicPr>
        <p:blipFill>
          <a:blip r:embed="rId1"/>
          <a:srcRect l="0" r="0" t="0" b="0"/>
          <a:stretch/>
        </p:blipFill>
        <p:spPr>
          <a:xfrm>
            <a:off x="9347200" y="1187450"/>
            <a:ext cx="254000" cy="38100"/>
          </a:xfrm>
          <a:prstGeom prst="rect">
            <a:avLst/>
          </a:prstGeom>
        </p:spPr>
      </p:pic>
      <p:pic>
        <p:nvPicPr>
          <p:cNvPr id="11" name="Image 1" descr="line">    </p:cNvPr>
          <p:cNvPicPr>
            <a:picLocks noChangeAspect="1"/>
          </p:cNvPicPr>
          <p:nvPr/>
        </p:nvPicPr>
        <p:blipFill>
          <a:blip r:embed="rId2"/>
          <a:srcRect l="0" r="0" t="0" b="0"/>
          <a:stretch/>
        </p:blipFill>
        <p:spPr>
          <a:xfrm>
            <a:off x="10363200" y="1187450"/>
            <a:ext cx="254000" cy="38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spc="-50" kern="0" dirty="0">
                <a:solidFill>
                  <a:srgbClr val="0E1A2B"/>
                </a:solidFill>
                <a:latin typeface="Be Vietnam Pro" pitchFamily="34" charset="0"/>
                <a:ea typeface="Be Vietnam Pro" pitchFamily="34" charset="-122"/>
                <a:cs typeface="Be Vietnam Pro" pitchFamily="34" charset="-120"/>
              </a:rPr>
              <a:t>Nhiều bên, mỗi bên một sổ sách</a:t>
            </a:r>
            <a:endParaRPr lang="en-US" sz="3600" dirty="0"/>
          </a:p>
        </p:txBody>
      </p:sp>
      <p:sp>
        <p:nvSpPr>
          <p:cNvPr id="3" name="Shape 1"/>
          <p:cNvSpPr/>
          <p:nvPr/>
        </p:nvSpPr>
        <p:spPr>
          <a:xfrm>
            <a:off x="815975" y="1748135"/>
            <a:ext cx="3380284" cy="2940050"/>
          </a:xfrm>
          <a:prstGeom prst="roundRect">
            <a:avLst>
              <a:gd name="adj" fmla="val 4212"/>
            </a:avLst>
          </a:prstGeom>
          <a:solidFill>
            <a:srgbClr val="FFFCF5"/>
          </a:solidFill>
          <a:ln w="6350">
            <a:solidFill>
              <a:srgbClr val="E2DCCD"/>
            </a:solidFill>
            <a:prstDash val="solid"/>
          </a:ln>
        </p:spPr>
      </p:sp>
      <p:pic>
        <p:nvPicPr>
          <p:cNvPr id="4" name="Image 0" descr="Database">    </p:cNvPr>
          <p:cNvPicPr>
            <a:picLocks noChangeAspect="1"/>
          </p:cNvPicPr>
          <p:nvPr/>
        </p:nvPicPr>
        <p:blipFill>
          <a:blip r:embed="rId1"/>
          <a:srcRect l="0" r="0" t="0" b="0"/>
          <a:stretch/>
        </p:blipFill>
        <p:spPr>
          <a:xfrm>
            <a:off x="1123950" y="2056110"/>
            <a:ext cx="355600" cy="355600"/>
          </a:xfrm>
          <a:prstGeom prst="rect">
            <a:avLst/>
          </a:prstGeom>
        </p:spPr>
      </p:pic>
      <p:sp>
        <p:nvSpPr>
          <p:cNvPr id="5" name="Text 2"/>
          <p:cNvSpPr/>
          <p:nvPr/>
        </p:nvSpPr>
        <p:spPr>
          <a:xfrm>
            <a:off x="1123950" y="2538710"/>
            <a:ext cx="28472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Be Vietnam Pro" pitchFamily="34" charset="0"/>
                <a:ea typeface="Be Vietnam Pro" pitchFamily="34" charset="-122"/>
                <a:cs typeface="Be Vietnam Pro" pitchFamily="34" charset="-120"/>
              </a:rPr>
              <a:t>Dữ liệu phân mảnh</a:t>
            </a:r>
            <a:endParaRPr lang="en-US" sz="2000" dirty="0"/>
          </a:p>
        </p:txBody>
      </p:sp>
      <p:sp>
        <p:nvSpPr>
          <p:cNvPr id="6" name="Text 3"/>
          <p:cNvSpPr/>
          <p:nvPr/>
        </p:nvSpPr>
        <p:spPr>
          <a:xfrm>
            <a:off x="1123950" y="2970510"/>
            <a:ext cx="2847264"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5505F"/>
                </a:solidFill>
                <a:latin typeface="Be Vietnam Pro" pitchFamily="34" charset="0"/>
                <a:ea typeface="Be Vietnam Pro" pitchFamily="34" charset="-122"/>
                <a:cs typeface="Be Vietnam Pro" pitchFamily="34" charset="-120"/>
              </a:rPr>
              <a:t>Người gửi, đơn vị vận chuyển, người nhận và kho mỗi bên lưu trạng thái trên hệ thống riêng.</a:t>
            </a:r>
            <a:endParaRPr lang="en-US" sz="1500" dirty="0"/>
          </a:p>
        </p:txBody>
      </p:sp>
      <p:sp>
        <p:nvSpPr>
          <p:cNvPr id="7" name="Shape 4"/>
          <p:cNvSpPr/>
          <p:nvPr/>
        </p:nvSpPr>
        <p:spPr>
          <a:xfrm>
            <a:off x="4405809" y="1748135"/>
            <a:ext cx="3380383" cy="2940050"/>
          </a:xfrm>
          <a:prstGeom prst="roundRect">
            <a:avLst>
              <a:gd name="adj" fmla="val 4212"/>
            </a:avLst>
          </a:prstGeom>
          <a:solidFill>
            <a:srgbClr val="FFFCF5"/>
          </a:solidFill>
          <a:ln w="6350">
            <a:solidFill>
              <a:srgbClr val="E2DCCD"/>
            </a:solidFill>
            <a:prstDash val="solid"/>
          </a:ln>
        </p:spPr>
      </p:sp>
      <p:pic>
        <p:nvPicPr>
          <p:cNvPr id="8" name="Image 1" descr="Warning">    </p:cNvPr>
          <p:cNvPicPr>
            <a:picLocks noChangeAspect="1"/>
          </p:cNvPicPr>
          <p:nvPr/>
        </p:nvPicPr>
        <p:blipFill>
          <a:blip r:embed="rId2"/>
          <a:srcRect l="0" r="0" t="0" b="0"/>
          <a:stretch/>
        </p:blipFill>
        <p:spPr>
          <a:xfrm>
            <a:off x="4713784" y="2056110"/>
            <a:ext cx="355600" cy="355600"/>
          </a:xfrm>
          <a:prstGeom prst="rect">
            <a:avLst/>
          </a:prstGeom>
        </p:spPr>
      </p:pic>
      <p:sp>
        <p:nvSpPr>
          <p:cNvPr id="9" name="Text 5"/>
          <p:cNvSpPr/>
          <p:nvPr/>
        </p:nvSpPr>
        <p:spPr>
          <a:xfrm>
            <a:off x="4713784" y="2538710"/>
            <a:ext cx="284736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Be Vietnam Pro" pitchFamily="34" charset="0"/>
                <a:ea typeface="Be Vietnam Pro" pitchFamily="34" charset="-122"/>
                <a:cs typeface="Be Vietnam Pro" pitchFamily="34" charset="-120"/>
              </a:rPr>
              <a:t>Khó kiểm chứng</a:t>
            </a:r>
            <a:endParaRPr lang="en-US" sz="2000" dirty="0"/>
          </a:p>
        </p:txBody>
      </p:sp>
      <p:sp>
        <p:nvSpPr>
          <p:cNvPr id="10" name="Text 6"/>
          <p:cNvSpPr/>
          <p:nvPr/>
        </p:nvSpPr>
        <p:spPr>
          <a:xfrm>
            <a:off x="4713784" y="2970510"/>
            <a:ext cx="2847366"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5505F"/>
                </a:solidFill>
                <a:latin typeface="Be Vietnam Pro" pitchFamily="34" charset="0"/>
                <a:ea typeface="Be Vietnam Pro" pitchFamily="34" charset="-122"/>
                <a:cs typeface="Be Vietnam Pro" pitchFamily="34" charset="-120"/>
              </a:rPr>
              <a:t>Bản ghi trong cơ sở dữ liệu tập trung có thể bị sửa hoặc xóa mà các bên khác không hề biết.</a:t>
            </a:r>
            <a:endParaRPr lang="en-US" sz="1500" dirty="0"/>
          </a:p>
        </p:txBody>
      </p:sp>
      <p:sp>
        <p:nvSpPr>
          <p:cNvPr id="11" name="Shape 7"/>
          <p:cNvSpPr/>
          <p:nvPr/>
        </p:nvSpPr>
        <p:spPr>
          <a:xfrm>
            <a:off x="7995741" y="1748135"/>
            <a:ext cx="3380284" cy="2940050"/>
          </a:xfrm>
          <a:prstGeom prst="roundRect">
            <a:avLst>
              <a:gd name="adj" fmla="val 4212"/>
            </a:avLst>
          </a:prstGeom>
          <a:solidFill>
            <a:srgbClr val="FFFCF5"/>
          </a:solidFill>
          <a:ln w="6350">
            <a:solidFill>
              <a:srgbClr val="E2DCCD"/>
            </a:solidFill>
            <a:prstDash val="solid"/>
          </a:ln>
        </p:spPr>
      </p:sp>
      <p:pic>
        <p:nvPicPr>
          <p:cNvPr id="12" name="Image 2" descr="Users">    </p:cNvPr>
          <p:cNvPicPr>
            <a:picLocks noChangeAspect="1"/>
          </p:cNvPicPr>
          <p:nvPr/>
        </p:nvPicPr>
        <p:blipFill>
          <a:blip r:embed="rId3"/>
          <a:srcRect l="0" r="0" t="0" b="0"/>
          <a:stretch/>
        </p:blipFill>
        <p:spPr>
          <a:xfrm>
            <a:off x="8303716" y="2056110"/>
            <a:ext cx="355600" cy="355600"/>
          </a:xfrm>
          <a:prstGeom prst="rect">
            <a:avLst/>
          </a:prstGeom>
        </p:spPr>
      </p:pic>
      <p:sp>
        <p:nvSpPr>
          <p:cNvPr id="13" name="Text 8"/>
          <p:cNvSpPr/>
          <p:nvPr/>
        </p:nvSpPr>
        <p:spPr>
          <a:xfrm>
            <a:off x="8303716" y="2538710"/>
            <a:ext cx="2847264"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Be Vietnam Pro" pitchFamily="34" charset="0"/>
                <a:ea typeface="Be Vietnam Pro" pitchFamily="34" charset="-122"/>
                <a:cs typeface="Be Vietnam Pro" pitchFamily="34" charset="-120"/>
              </a:rPr>
              <a:t>Tranh chấp trách nhiệm</a:t>
            </a:r>
            <a:endParaRPr lang="en-US" sz="2000" dirty="0"/>
          </a:p>
        </p:txBody>
      </p:sp>
      <p:sp>
        <p:nvSpPr>
          <p:cNvPr id="14" name="Text 9"/>
          <p:cNvSpPr/>
          <p:nvPr/>
        </p:nvSpPr>
        <p:spPr>
          <a:xfrm>
            <a:off x="8303716" y="3275310"/>
            <a:ext cx="2847264"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5505F"/>
                </a:solidFill>
                <a:latin typeface="Be Vietnam Pro" pitchFamily="34" charset="0"/>
                <a:ea typeface="Be Vietnam Pro" pitchFamily="34" charset="-122"/>
                <a:cs typeface="Be Vietnam Pro" pitchFamily="34" charset="-120"/>
              </a:rPr>
              <a:t>Khi hàng trễ, thất lạc hay lệch tồn kho, khó xác định ai đã cập nhật gì và vào lúc nào.</a:t>
            </a:r>
            <a:endParaRPr lang="en-US" sz="1500" dirty="0"/>
          </a:p>
        </p:txBody>
      </p:sp>
      <p:sp>
        <p:nvSpPr>
          <p:cNvPr id="15"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Be Vietnam Pro" pitchFamily="34" charset="0"/>
                <a:ea typeface="Be Vietnam Pro" pitchFamily="34" charset="-122"/>
                <a:cs typeface="Be Vietnam Pro" pitchFamily="34" charset="-120"/>
              </a:rPr>
              <a:t>02 · Bối cảnh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spc="-50" kern="0" dirty="0">
                <a:solidFill>
                  <a:srgbClr val="0E1A2B"/>
                </a:solidFill>
                <a:latin typeface="Be Vietnam Pro" pitchFamily="34" charset="0"/>
                <a:ea typeface="Be Vietnam Pro" pitchFamily="34" charset="-122"/>
                <a:cs typeface="Be Vietnam Pro" pitchFamily="34" charset="-120"/>
              </a:rPr>
              <a:t>Ý tưởng: một sổ cái chung cho mọi bên</a:t>
            </a:r>
            <a:endParaRPr lang="en-US" sz="3600" dirty="0"/>
          </a:p>
        </p:txBody>
      </p:sp>
      <p:sp>
        <p:nvSpPr>
          <p:cNvPr id="3" name="Shape 1"/>
          <p:cNvSpPr/>
          <p:nvPr/>
        </p:nvSpPr>
        <p:spPr>
          <a:xfrm>
            <a:off x="815975" y="1697335"/>
            <a:ext cx="5175250" cy="1447800"/>
          </a:xfrm>
          <a:prstGeom prst="roundRect">
            <a:avLst>
              <a:gd name="adj" fmla="val 8553"/>
            </a:avLst>
          </a:prstGeom>
          <a:solidFill>
            <a:srgbClr val="FFFCF5"/>
          </a:solidFill>
          <a:ln w="6350">
            <a:solidFill>
              <a:srgbClr val="E2DCCD"/>
            </a:solidFill>
            <a:prstDash val="solid"/>
          </a:ln>
        </p:spPr>
      </p:sp>
      <p:pic>
        <p:nvPicPr>
          <p:cNvPr id="4" name="Image 0" descr="Key">    </p:cNvPr>
          <p:cNvPicPr>
            <a:picLocks noChangeAspect="1"/>
          </p:cNvPicPr>
          <p:nvPr/>
        </p:nvPicPr>
        <p:blipFill>
          <a:blip r:embed="rId1"/>
          <a:srcRect l="0" r="0" t="0" b="0"/>
          <a:stretch/>
        </p:blipFill>
        <p:spPr>
          <a:xfrm>
            <a:off x="1073150" y="1954510"/>
            <a:ext cx="355600" cy="355600"/>
          </a:xfrm>
          <a:prstGeom prst="rect">
            <a:avLst/>
          </a:prstGeom>
        </p:spPr>
      </p:pic>
      <p:sp>
        <p:nvSpPr>
          <p:cNvPr id="5" name="Text 2"/>
          <p:cNvSpPr/>
          <p:nvPr/>
        </p:nvSpPr>
        <p:spPr>
          <a:xfrm>
            <a:off x="1631950" y="1954510"/>
            <a:ext cx="42251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Be Vietnam Pro" pitchFamily="34" charset="0"/>
                <a:ea typeface="Be Vietnam Pro" pitchFamily="34" charset="-122"/>
                <a:cs typeface="Be Vietnam Pro" pitchFamily="34" charset="-120"/>
              </a:rPr>
              <a:t>Mỗi thao tác được ký bằng ví</a:t>
            </a:r>
            <a:endParaRPr lang="en-US" sz="2000" dirty="0"/>
          </a:p>
        </p:txBody>
      </p:sp>
      <p:sp>
        <p:nvSpPr>
          <p:cNvPr id="6" name="Text 3"/>
          <p:cNvSpPr/>
          <p:nvPr/>
        </p:nvSpPr>
        <p:spPr>
          <a:xfrm>
            <a:off x="1631950" y="2335510"/>
            <a:ext cx="4225163"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5505F"/>
                </a:solidFill>
                <a:latin typeface="Be Vietnam Pro" pitchFamily="34" charset="0"/>
                <a:ea typeface="Be Vietnam Pro" pitchFamily="34" charset="-122"/>
                <a:cs typeface="Be Vietnam Pro" pitchFamily="34" charset="-120"/>
              </a:rPr>
              <a:t>msg.sender cho biết ai thực hiện; hợp đồng tự kiểm tra quyền.</a:t>
            </a:r>
            <a:endParaRPr lang="en-US" sz="1500" dirty="0"/>
          </a:p>
        </p:txBody>
      </p:sp>
      <p:sp>
        <p:nvSpPr>
          <p:cNvPr id="7" name="Shape 4"/>
          <p:cNvSpPr/>
          <p:nvPr/>
        </p:nvSpPr>
        <p:spPr>
          <a:xfrm>
            <a:off x="6200775" y="1697335"/>
            <a:ext cx="5175250" cy="1447800"/>
          </a:xfrm>
          <a:prstGeom prst="roundRect">
            <a:avLst>
              <a:gd name="adj" fmla="val 8553"/>
            </a:avLst>
          </a:prstGeom>
          <a:solidFill>
            <a:srgbClr val="FFFCF5"/>
          </a:solidFill>
          <a:ln w="6350">
            <a:solidFill>
              <a:srgbClr val="E2DCCD"/>
            </a:solidFill>
            <a:prstDash val="solid"/>
          </a:ln>
        </p:spPr>
      </p:sp>
      <p:pic>
        <p:nvPicPr>
          <p:cNvPr id="8" name="Image 1" descr="Lock">    </p:cNvPr>
          <p:cNvPicPr>
            <a:picLocks noChangeAspect="1"/>
          </p:cNvPicPr>
          <p:nvPr/>
        </p:nvPicPr>
        <p:blipFill>
          <a:blip r:embed="rId2"/>
          <a:srcRect l="0" r="0" t="0" b="0"/>
          <a:stretch/>
        </p:blipFill>
        <p:spPr>
          <a:xfrm>
            <a:off x="6457950" y="1954510"/>
            <a:ext cx="355600" cy="355600"/>
          </a:xfrm>
          <a:prstGeom prst="rect">
            <a:avLst/>
          </a:prstGeom>
        </p:spPr>
      </p:pic>
      <p:sp>
        <p:nvSpPr>
          <p:cNvPr id="9" name="Text 5"/>
          <p:cNvSpPr/>
          <p:nvPr/>
        </p:nvSpPr>
        <p:spPr>
          <a:xfrm>
            <a:off x="7016750" y="1954510"/>
            <a:ext cx="42251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Be Vietnam Pro" pitchFamily="34" charset="0"/>
                <a:ea typeface="Be Vietnam Pro" pitchFamily="34" charset="-122"/>
                <a:cs typeface="Be Vietnam Pro" pitchFamily="34" charset="-120"/>
              </a:rPr>
              <a:t>Lịch sử chỉ ghi thêm</a:t>
            </a:r>
            <a:endParaRPr lang="en-US" sz="2000" dirty="0"/>
          </a:p>
        </p:txBody>
      </p:sp>
      <p:sp>
        <p:nvSpPr>
          <p:cNvPr id="10" name="Text 6"/>
          <p:cNvSpPr/>
          <p:nvPr/>
        </p:nvSpPr>
        <p:spPr>
          <a:xfrm>
            <a:off x="7016750" y="2335510"/>
            <a:ext cx="4225163"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5505F"/>
                </a:solidFill>
                <a:latin typeface="Be Vietnam Pro" pitchFamily="34" charset="0"/>
                <a:ea typeface="Be Vietnam Pro" pitchFamily="34" charset="-122"/>
                <a:cs typeface="Be Vietnam Pro" pitchFamily="34" charset="-120"/>
              </a:rPr>
              <a:t>Mỗi thay đổi là một bản ghi có thời gian, vị trí và người cập nhật.</a:t>
            </a:r>
            <a:endParaRPr lang="en-US" sz="1500" dirty="0"/>
          </a:p>
        </p:txBody>
      </p:sp>
      <p:sp>
        <p:nvSpPr>
          <p:cNvPr id="11" name="Shape 7"/>
          <p:cNvSpPr/>
          <p:nvPr/>
        </p:nvSpPr>
        <p:spPr>
          <a:xfrm>
            <a:off x="815975" y="3354685"/>
            <a:ext cx="5175250" cy="1447800"/>
          </a:xfrm>
          <a:prstGeom prst="roundRect">
            <a:avLst>
              <a:gd name="adj" fmla="val 8553"/>
            </a:avLst>
          </a:prstGeom>
          <a:solidFill>
            <a:srgbClr val="FFFCF5"/>
          </a:solidFill>
          <a:ln w="6350">
            <a:solidFill>
              <a:srgbClr val="E2DCCD"/>
            </a:solidFill>
            <a:prstDash val="solid"/>
          </a:ln>
        </p:spPr>
      </p:sp>
      <p:pic>
        <p:nvPicPr>
          <p:cNvPr id="12" name="Image 2" descr="Settings">    </p:cNvPr>
          <p:cNvPicPr>
            <a:picLocks noChangeAspect="1"/>
          </p:cNvPicPr>
          <p:nvPr/>
        </p:nvPicPr>
        <p:blipFill>
          <a:blip r:embed="rId3"/>
          <a:srcRect l="0" r="0" t="0" b="0"/>
          <a:stretch/>
        </p:blipFill>
        <p:spPr>
          <a:xfrm>
            <a:off x="1073150" y="3611860"/>
            <a:ext cx="355600" cy="355600"/>
          </a:xfrm>
          <a:prstGeom prst="rect">
            <a:avLst/>
          </a:prstGeom>
        </p:spPr>
      </p:pic>
      <p:sp>
        <p:nvSpPr>
          <p:cNvPr id="13" name="Text 8"/>
          <p:cNvSpPr/>
          <p:nvPr/>
        </p:nvSpPr>
        <p:spPr>
          <a:xfrm>
            <a:off x="1631950" y="3611860"/>
            <a:ext cx="42251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Be Vietnam Pro" pitchFamily="34" charset="0"/>
                <a:ea typeface="Be Vietnam Pro" pitchFamily="34" charset="-122"/>
                <a:cs typeface="Be Vietnam Pro" pitchFamily="34" charset="-120"/>
              </a:rPr>
              <a:t>Quy tắc nằm trong code</a:t>
            </a:r>
            <a:endParaRPr lang="en-US" sz="2000" dirty="0"/>
          </a:p>
        </p:txBody>
      </p:sp>
      <p:sp>
        <p:nvSpPr>
          <p:cNvPr id="14" name="Text 9"/>
          <p:cNvSpPr/>
          <p:nvPr/>
        </p:nvSpPr>
        <p:spPr>
          <a:xfrm>
            <a:off x="1631950" y="3992860"/>
            <a:ext cx="4225163"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5505F"/>
                </a:solidFill>
                <a:latin typeface="Be Vietnam Pro" pitchFamily="34" charset="0"/>
                <a:ea typeface="Be Vietnam Pro" pitchFamily="34" charset="-122"/>
                <a:cs typeface="Be Vietnam Pro" pitchFamily="34" charset="-120"/>
              </a:rPr>
              <a:t>Điều kiện require không thể bị bỏ qua, kể cả bởi người vận hành.</a:t>
            </a:r>
            <a:endParaRPr lang="en-US" sz="1500" dirty="0"/>
          </a:p>
        </p:txBody>
      </p:sp>
      <p:sp>
        <p:nvSpPr>
          <p:cNvPr id="15" name="Shape 10"/>
          <p:cNvSpPr/>
          <p:nvPr/>
        </p:nvSpPr>
        <p:spPr>
          <a:xfrm>
            <a:off x="6200775" y="3354685"/>
            <a:ext cx="5175250" cy="1447800"/>
          </a:xfrm>
          <a:prstGeom prst="roundRect">
            <a:avLst>
              <a:gd name="adj" fmla="val 8553"/>
            </a:avLst>
          </a:prstGeom>
          <a:solidFill>
            <a:srgbClr val="FFFCF5"/>
          </a:solidFill>
          <a:ln w="6350">
            <a:solidFill>
              <a:srgbClr val="E2DCCD"/>
            </a:solidFill>
            <a:prstDash val="solid"/>
          </a:ln>
        </p:spPr>
      </p:sp>
      <p:pic>
        <p:nvPicPr>
          <p:cNvPr id="16" name="Image 3" descr="Lightning">    </p:cNvPr>
          <p:cNvPicPr>
            <a:picLocks noChangeAspect="1"/>
          </p:cNvPicPr>
          <p:nvPr/>
        </p:nvPicPr>
        <p:blipFill>
          <a:blip r:embed="rId4"/>
          <a:srcRect l="0" r="0" t="0" b="0"/>
          <a:stretch/>
        </p:blipFill>
        <p:spPr>
          <a:xfrm>
            <a:off x="6457950" y="3611860"/>
            <a:ext cx="355600" cy="355600"/>
          </a:xfrm>
          <a:prstGeom prst="rect">
            <a:avLst/>
          </a:prstGeom>
        </p:spPr>
      </p:pic>
      <p:sp>
        <p:nvSpPr>
          <p:cNvPr id="17" name="Text 11"/>
          <p:cNvSpPr/>
          <p:nvPr/>
        </p:nvSpPr>
        <p:spPr>
          <a:xfrm>
            <a:off x="7016750" y="3611860"/>
            <a:ext cx="42251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Be Vietnam Pro" pitchFamily="34" charset="0"/>
                <a:ea typeface="Be Vietnam Pro" pitchFamily="34" charset="-122"/>
                <a:cs typeface="Be Vietnam Pro" pitchFamily="34" charset="-120"/>
              </a:rPr>
              <a:t>Sự kiện theo thời gian thực</a:t>
            </a:r>
            <a:endParaRPr lang="en-US" sz="2000" dirty="0"/>
          </a:p>
        </p:txBody>
      </p:sp>
      <p:sp>
        <p:nvSpPr>
          <p:cNvPr id="18" name="Text 12"/>
          <p:cNvSpPr/>
          <p:nvPr/>
        </p:nvSpPr>
        <p:spPr>
          <a:xfrm>
            <a:off x="7016750" y="3992860"/>
            <a:ext cx="4225163"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5505F"/>
                </a:solidFill>
                <a:latin typeface="Be Vietnam Pro" pitchFamily="34" charset="0"/>
                <a:ea typeface="Be Vietnam Pro" pitchFamily="34" charset="-122"/>
                <a:cs typeface="Be Vietnam Pro" pitchFamily="34" charset="-120"/>
              </a:rPr>
              <a:t>dApp lắng nghe event để cập nhật ngay khi hàng di chuyển.</a:t>
            </a:r>
            <a:endParaRPr lang="en-US" sz="1500" dirty="0"/>
          </a:p>
        </p:txBody>
      </p:sp>
      <p:sp>
        <p:nvSpPr>
          <p:cNvPr id="19"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Be Vietnam Pro" pitchFamily="34" charset="0"/>
                <a:ea typeface="Be Vietnam Pro" pitchFamily="34" charset="-122"/>
                <a:cs typeface="Be Vietnam Pro" pitchFamily="34" charset="-120"/>
              </a:rPr>
              <a:t>03 · Ý tưởng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spc="-50" kern="0" dirty="0">
                <a:solidFill>
                  <a:srgbClr val="0E1A2B"/>
                </a:solidFill>
                <a:latin typeface="Be Vietnam Pro" pitchFamily="34" charset="0"/>
                <a:ea typeface="Be Vietnam Pro" pitchFamily="34" charset="-122"/>
                <a:cs typeface="Be Vietnam Pro" pitchFamily="34" charset="-120"/>
              </a:rPr>
              <a:t>Kiến trúc: hai hợp đồng, hai interface</a:t>
            </a:r>
            <a:endParaRPr lang="en-US" sz="3600" dirty="0"/>
          </a:p>
        </p:txBody>
      </p:sp>
      <p:sp>
        <p:nvSpPr>
          <p:cNvPr id="3" name="Shape 1"/>
          <p:cNvSpPr/>
          <p:nvPr/>
        </p:nvSpPr>
        <p:spPr>
          <a:xfrm>
            <a:off x="815975" y="1697335"/>
            <a:ext cx="5175250" cy="2849761"/>
          </a:xfrm>
          <a:prstGeom prst="roundRect">
            <a:avLst>
              <a:gd name="adj" fmla="val 4345"/>
            </a:avLst>
          </a:prstGeom>
          <a:solidFill>
            <a:srgbClr val="FFFCF5"/>
          </a:solidFill>
          <a:ln w="6350">
            <a:solidFill>
              <a:srgbClr val="E2DCCD"/>
            </a:solidFill>
            <a:prstDash val="solid"/>
          </a:ln>
        </p:spPr>
      </p:sp>
      <p:sp>
        <p:nvSpPr>
          <p:cNvPr id="4" name="Text 2"/>
          <p:cNvSpPr/>
          <p:nvPr/>
        </p:nvSpPr>
        <p:spPr>
          <a:xfrm>
            <a:off x="1123950" y="2005310"/>
            <a:ext cx="4696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200"/>
                </a:solidFill>
                <a:latin typeface="JetBrains Mono" pitchFamily="34" charset="0"/>
                <a:ea typeface="JetBrains Mono" pitchFamily="34" charset="-122"/>
                <a:cs typeface="JetBrains Mono" pitchFamily="34" charset="-120"/>
              </a:rPr>
              <a:t>LogisticsTracking.sol → ILogisticsTracking</a:t>
            </a:r>
            <a:endParaRPr lang="en-US" sz="1200" dirty="0"/>
          </a:p>
        </p:txBody>
      </p:sp>
      <p:sp>
        <p:nvSpPr>
          <p:cNvPr id="5" name="Text 3"/>
          <p:cNvSpPr/>
          <p:nvPr/>
        </p:nvSpPr>
        <p:spPr>
          <a:xfrm>
            <a:off x="1123950" y="2371030"/>
            <a:ext cx="46960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Be Vietnam Pro" pitchFamily="34" charset="0"/>
                <a:ea typeface="Be Vietnam Pro" pitchFamily="34" charset="-122"/>
                <a:cs typeface="Be Vietnam Pro" pitchFamily="34" charset="-120"/>
              </a:rPr>
              <a:t>Theo dõi lô hàng</a:t>
            </a:r>
            <a:endParaRPr lang="en-US" sz="2000" dirty="0"/>
          </a:p>
        </p:txBody>
      </p:sp>
      <p:sp>
        <p:nvSpPr>
          <p:cNvPr id="6" name="Text 4"/>
          <p:cNvSpPr/>
          <p:nvPr/>
        </p:nvSpPr>
        <p:spPr>
          <a:xfrm>
            <a:off x="1123950" y="2828230"/>
            <a:ext cx="4696079"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5505F"/>
                </a:solidFill>
                <a:latin typeface="Be Vietnam Pro" pitchFamily="34" charset="0"/>
                <a:ea typeface="Be Vietnam Pro" pitchFamily="34" charset="-122"/>
                <a:cs typeface="Be Vietnam Pro" pitchFamily="34" charset="-120"/>
              </a:rPr>
              <a:t>Người gửi · Đơn vị vận chuyển · Người nhận · Owner</a:t>
            </a:r>
            <a:endParaRPr lang="en-US" sz="1500" dirty="0"/>
          </a:p>
        </p:txBody>
      </p:sp>
      <p:sp>
        <p:nvSpPr>
          <p:cNvPr id="7" name="Shape 5"/>
          <p:cNvSpPr/>
          <p:nvPr/>
        </p:nvSpPr>
        <p:spPr>
          <a:xfrm>
            <a:off x="1123950" y="3533080"/>
            <a:ext cx="1483420" cy="314920"/>
          </a:xfrm>
          <a:prstGeom prst="roundRect">
            <a:avLst>
              <a:gd name="adj" fmla="val 16131"/>
            </a:avLst>
          </a:prstGeom>
          <a:solidFill>
            <a:srgbClr val="EFE8D8"/>
          </a:solidFill>
          <a:ln/>
        </p:spPr>
      </p:sp>
      <p:sp>
        <p:nvSpPr>
          <p:cNvPr id="8" name="Text 6"/>
          <p:cNvSpPr/>
          <p:nvPr/>
        </p:nvSpPr>
        <p:spPr>
          <a:xfrm>
            <a:off x="1225550" y="3583880"/>
            <a:ext cx="1331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34" charset="0"/>
                <a:ea typeface="JetBrains Mono" pitchFamily="34" charset="-122"/>
                <a:cs typeface="JetBrains Mono" pitchFamily="34" charset="-120"/>
              </a:rPr>
              <a:t>createShipment</a:t>
            </a:r>
            <a:endParaRPr lang="en-US" sz="1200" dirty="0"/>
          </a:p>
        </p:txBody>
      </p:sp>
      <p:sp>
        <p:nvSpPr>
          <p:cNvPr id="9" name="Shape 7"/>
          <p:cNvSpPr/>
          <p:nvPr/>
        </p:nvSpPr>
        <p:spPr>
          <a:xfrm>
            <a:off x="2683570" y="3533080"/>
            <a:ext cx="1300559" cy="314920"/>
          </a:xfrm>
          <a:prstGeom prst="roundRect">
            <a:avLst>
              <a:gd name="adj" fmla="val 16131"/>
            </a:avLst>
          </a:prstGeom>
          <a:solidFill>
            <a:srgbClr val="EFE8D8"/>
          </a:solidFill>
          <a:ln/>
        </p:spPr>
      </p:sp>
      <p:sp>
        <p:nvSpPr>
          <p:cNvPr id="10" name="Text 8"/>
          <p:cNvSpPr/>
          <p:nvPr/>
        </p:nvSpPr>
        <p:spPr>
          <a:xfrm>
            <a:off x="2785170" y="3583880"/>
            <a:ext cx="11481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34" charset="0"/>
                <a:ea typeface="JetBrains Mono" pitchFamily="34" charset="-122"/>
                <a:cs typeface="JetBrains Mono" pitchFamily="34" charset="-120"/>
              </a:rPr>
              <a:t>updateStatus</a:t>
            </a:r>
            <a:endParaRPr lang="en-US" sz="1200" dirty="0"/>
          </a:p>
        </p:txBody>
      </p:sp>
      <p:sp>
        <p:nvSpPr>
          <p:cNvPr id="11" name="Shape 9"/>
          <p:cNvSpPr/>
          <p:nvPr/>
        </p:nvSpPr>
        <p:spPr>
          <a:xfrm>
            <a:off x="4060329" y="3533080"/>
            <a:ext cx="1483420" cy="314920"/>
          </a:xfrm>
          <a:prstGeom prst="roundRect">
            <a:avLst>
              <a:gd name="adj" fmla="val 16131"/>
            </a:avLst>
          </a:prstGeom>
          <a:solidFill>
            <a:srgbClr val="EFE8D8"/>
          </a:solidFill>
          <a:ln/>
        </p:spPr>
      </p:sp>
      <p:sp>
        <p:nvSpPr>
          <p:cNvPr id="12" name="Text 10"/>
          <p:cNvSpPr/>
          <p:nvPr/>
        </p:nvSpPr>
        <p:spPr>
          <a:xfrm>
            <a:off x="4161929" y="3583880"/>
            <a:ext cx="1331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34" charset="0"/>
                <a:ea typeface="JetBrains Mono" pitchFamily="34" charset="-122"/>
                <a:cs typeface="JetBrains Mono" pitchFamily="34" charset="-120"/>
              </a:rPr>
              <a:t>cancelShipment</a:t>
            </a:r>
            <a:endParaRPr lang="en-US" sz="1200" dirty="0"/>
          </a:p>
        </p:txBody>
      </p:sp>
      <p:sp>
        <p:nvSpPr>
          <p:cNvPr id="13" name="Shape 11"/>
          <p:cNvSpPr/>
          <p:nvPr/>
        </p:nvSpPr>
        <p:spPr>
          <a:xfrm>
            <a:off x="1123950" y="3924201"/>
            <a:ext cx="1117600" cy="314920"/>
          </a:xfrm>
          <a:prstGeom prst="roundRect">
            <a:avLst>
              <a:gd name="adj" fmla="val 16131"/>
            </a:avLst>
          </a:prstGeom>
          <a:solidFill>
            <a:srgbClr val="EFE8D8"/>
          </a:solidFill>
          <a:ln/>
        </p:spPr>
      </p:sp>
      <p:sp>
        <p:nvSpPr>
          <p:cNvPr id="14" name="Text 12"/>
          <p:cNvSpPr/>
          <p:nvPr/>
        </p:nvSpPr>
        <p:spPr>
          <a:xfrm>
            <a:off x="1225550" y="3975001"/>
            <a:ext cx="965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34" charset="0"/>
                <a:ea typeface="JetBrains Mono" pitchFamily="34" charset="-122"/>
                <a:cs typeface="JetBrains Mono" pitchFamily="34" charset="-120"/>
              </a:rPr>
              <a:t>getHistory</a:t>
            </a:r>
            <a:endParaRPr lang="en-US" sz="1200" dirty="0"/>
          </a:p>
        </p:txBody>
      </p:sp>
      <p:sp>
        <p:nvSpPr>
          <p:cNvPr id="15" name="Shape 13"/>
          <p:cNvSpPr/>
          <p:nvPr/>
        </p:nvSpPr>
        <p:spPr>
          <a:xfrm>
            <a:off x="2317750" y="3924201"/>
            <a:ext cx="2306340" cy="314920"/>
          </a:xfrm>
          <a:prstGeom prst="roundRect">
            <a:avLst>
              <a:gd name="adj" fmla="val 16131"/>
            </a:avLst>
          </a:prstGeom>
          <a:solidFill>
            <a:srgbClr val="EFE8D8"/>
          </a:solidFill>
          <a:ln/>
        </p:spPr>
      </p:sp>
      <p:sp>
        <p:nvSpPr>
          <p:cNvPr id="16" name="Text 14"/>
          <p:cNvSpPr/>
          <p:nvPr/>
        </p:nvSpPr>
        <p:spPr>
          <a:xfrm>
            <a:off x="2419350" y="3975001"/>
            <a:ext cx="21662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34" charset="0"/>
                <a:ea typeface="JetBrains Mono" pitchFamily="34" charset="-122"/>
                <a:cs typeface="JetBrains Mono" pitchFamily="34" charset="-120"/>
              </a:rPr>
              <a:t>setCarrierAuthorization</a:t>
            </a:r>
            <a:endParaRPr lang="en-US" sz="1200" dirty="0"/>
          </a:p>
        </p:txBody>
      </p:sp>
      <p:sp>
        <p:nvSpPr>
          <p:cNvPr id="17" name="Shape 15"/>
          <p:cNvSpPr/>
          <p:nvPr/>
        </p:nvSpPr>
        <p:spPr>
          <a:xfrm>
            <a:off x="6200775" y="1697335"/>
            <a:ext cx="5175250" cy="2849761"/>
          </a:xfrm>
          <a:prstGeom prst="roundRect">
            <a:avLst>
              <a:gd name="adj" fmla="val 4345"/>
            </a:avLst>
          </a:prstGeom>
          <a:solidFill>
            <a:srgbClr val="FFFCF5"/>
          </a:solidFill>
          <a:ln w="6350">
            <a:solidFill>
              <a:srgbClr val="E2DCCD"/>
            </a:solidFill>
            <a:prstDash val="solid"/>
          </a:ln>
        </p:spPr>
      </p:sp>
      <p:sp>
        <p:nvSpPr>
          <p:cNvPr id="18" name="Text 16"/>
          <p:cNvSpPr/>
          <p:nvPr/>
        </p:nvSpPr>
        <p:spPr>
          <a:xfrm>
            <a:off x="6508750" y="2005310"/>
            <a:ext cx="4696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FD0"/>
                </a:solidFill>
                <a:latin typeface="JetBrains Mono" pitchFamily="34" charset="0"/>
                <a:ea typeface="JetBrains Mono" pitchFamily="34" charset="-122"/>
                <a:cs typeface="JetBrains Mono" pitchFamily="34" charset="-120"/>
              </a:rPr>
              <a:t>Warehouse.sol → IWarehouse</a:t>
            </a:r>
            <a:endParaRPr lang="en-US" sz="1200" dirty="0"/>
          </a:p>
        </p:txBody>
      </p:sp>
      <p:sp>
        <p:nvSpPr>
          <p:cNvPr id="19" name="Text 17"/>
          <p:cNvSpPr/>
          <p:nvPr/>
        </p:nvSpPr>
        <p:spPr>
          <a:xfrm>
            <a:off x="6508750" y="2371030"/>
            <a:ext cx="46960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Be Vietnam Pro" pitchFamily="34" charset="0"/>
                <a:ea typeface="Be Vietnam Pro" pitchFamily="34" charset="-122"/>
                <a:cs typeface="Be Vietnam Pro" pitchFamily="34" charset="-120"/>
              </a:rPr>
              <a:t>Quản lý tồn kho</a:t>
            </a:r>
            <a:endParaRPr lang="en-US" sz="2000" dirty="0"/>
          </a:p>
        </p:txBody>
      </p:sp>
      <p:sp>
        <p:nvSpPr>
          <p:cNvPr id="20" name="Text 18"/>
          <p:cNvSpPr/>
          <p:nvPr/>
        </p:nvSpPr>
        <p:spPr>
          <a:xfrm>
            <a:off x="6508750" y="2828230"/>
            <a:ext cx="4696079"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5505F"/>
                </a:solidFill>
                <a:latin typeface="Be Vietnam Pro" pitchFamily="34" charset="0"/>
                <a:ea typeface="Be Vietnam Pro" pitchFamily="34" charset="-122"/>
                <a:cs typeface="Be Vietnam Pro" pitchFamily="34" charset="-120"/>
              </a:rPr>
              <a:t>Nhà cung cấp · Kho trung tâm · Siêu thị</a:t>
            </a:r>
            <a:endParaRPr lang="en-US" sz="1500" dirty="0"/>
          </a:p>
        </p:txBody>
      </p:sp>
      <p:sp>
        <p:nvSpPr>
          <p:cNvPr id="21" name="Shape 19"/>
          <p:cNvSpPr/>
          <p:nvPr/>
        </p:nvSpPr>
        <p:spPr>
          <a:xfrm>
            <a:off x="6508750" y="3256855"/>
            <a:ext cx="1300559" cy="314920"/>
          </a:xfrm>
          <a:prstGeom prst="roundRect">
            <a:avLst>
              <a:gd name="adj" fmla="val 16131"/>
            </a:avLst>
          </a:prstGeom>
          <a:solidFill>
            <a:srgbClr val="E3E9F6"/>
          </a:solidFill>
          <a:ln/>
        </p:spPr>
      </p:sp>
      <p:sp>
        <p:nvSpPr>
          <p:cNvPr id="22" name="Text 20"/>
          <p:cNvSpPr/>
          <p:nvPr/>
        </p:nvSpPr>
        <p:spPr>
          <a:xfrm>
            <a:off x="6610350" y="3307655"/>
            <a:ext cx="11481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34" charset="0"/>
                <a:ea typeface="JetBrains Mono" pitchFamily="34" charset="-122"/>
                <a:cs typeface="JetBrains Mono" pitchFamily="34" charset="-120"/>
              </a:rPr>
              <a:t>receiveStock</a:t>
            </a:r>
            <a:endParaRPr lang="en-US" sz="1200" dirty="0"/>
          </a:p>
        </p:txBody>
      </p:sp>
      <p:sp>
        <p:nvSpPr>
          <p:cNvPr id="23" name="Shape 21"/>
          <p:cNvSpPr/>
          <p:nvPr/>
        </p:nvSpPr>
        <p:spPr>
          <a:xfrm>
            <a:off x="7885509" y="3256855"/>
            <a:ext cx="1300559" cy="314920"/>
          </a:xfrm>
          <a:prstGeom prst="roundRect">
            <a:avLst>
              <a:gd name="adj" fmla="val 16131"/>
            </a:avLst>
          </a:prstGeom>
          <a:solidFill>
            <a:srgbClr val="E3E9F6"/>
          </a:solidFill>
          <a:ln/>
        </p:spPr>
      </p:sp>
      <p:sp>
        <p:nvSpPr>
          <p:cNvPr id="24" name="Text 22"/>
          <p:cNvSpPr/>
          <p:nvPr/>
        </p:nvSpPr>
        <p:spPr>
          <a:xfrm>
            <a:off x="7987109" y="3307655"/>
            <a:ext cx="11481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34" charset="0"/>
                <a:ea typeface="JetBrains Mono" pitchFamily="34" charset="-122"/>
                <a:cs typeface="JetBrains Mono" pitchFamily="34" charset="-120"/>
              </a:rPr>
              <a:t>takeForShelf</a:t>
            </a:r>
            <a:endParaRPr lang="en-US" sz="1200" dirty="0"/>
          </a:p>
        </p:txBody>
      </p:sp>
      <p:sp>
        <p:nvSpPr>
          <p:cNvPr id="25" name="Shape 23"/>
          <p:cNvSpPr/>
          <p:nvPr/>
        </p:nvSpPr>
        <p:spPr>
          <a:xfrm>
            <a:off x="9262269" y="3256855"/>
            <a:ext cx="1574800" cy="314920"/>
          </a:xfrm>
          <a:prstGeom prst="roundRect">
            <a:avLst>
              <a:gd name="adj" fmla="val 16131"/>
            </a:avLst>
          </a:prstGeom>
          <a:solidFill>
            <a:srgbClr val="E3E9F6"/>
          </a:solidFill>
          <a:ln/>
        </p:spPr>
      </p:sp>
      <p:sp>
        <p:nvSpPr>
          <p:cNvPr id="26" name="Text 24"/>
          <p:cNvSpPr/>
          <p:nvPr/>
        </p:nvSpPr>
        <p:spPr>
          <a:xfrm>
            <a:off x="9363869" y="3307655"/>
            <a:ext cx="142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34" charset="0"/>
                <a:ea typeface="JetBrains Mono" pitchFamily="34" charset="-122"/>
                <a:cs typeface="JetBrains Mono" pitchFamily="34" charset="-120"/>
              </a:rPr>
              <a:t>returnFromShelf</a:t>
            </a:r>
            <a:endParaRPr lang="en-US" sz="1200" dirty="0"/>
          </a:p>
        </p:txBody>
      </p:sp>
      <p:sp>
        <p:nvSpPr>
          <p:cNvPr id="27" name="Shape 25"/>
          <p:cNvSpPr/>
          <p:nvPr/>
        </p:nvSpPr>
        <p:spPr>
          <a:xfrm>
            <a:off x="6508750" y="3647976"/>
            <a:ext cx="1666280" cy="314920"/>
          </a:xfrm>
          <a:prstGeom prst="roundRect">
            <a:avLst>
              <a:gd name="adj" fmla="val 16131"/>
            </a:avLst>
          </a:prstGeom>
          <a:solidFill>
            <a:srgbClr val="E3E9F6"/>
          </a:solidFill>
          <a:ln/>
        </p:spPr>
      </p:sp>
      <p:sp>
        <p:nvSpPr>
          <p:cNvPr id="28" name="Text 26"/>
          <p:cNvSpPr/>
          <p:nvPr/>
        </p:nvSpPr>
        <p:spPr>
          <a:xfrm>
            <a:off x="6610350" y="3698776"/>
            <a:ext cx="15138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34" charset="0"/>
                <a:ea typeface="JetBrains Mono" pitchFamily="34" charset="-122"/>
                <a:cs typeface="JetBrains Mono" pitchFamily="34" charset="-120"/>
              </a:rPr>
              <a:t>getWarehouseItem</a:t>
            </a:r>
            <a:endParaRPr lang="en-US" sz="1200" dirty="0"/>
          </a:p>
        </p:txBody>
      </p:sp>
      <p:sp>
        <p:nvSpPr>
          <p:cNvPr id="29" name="Shape 27"/>
          <p:cNvSpPr/>
          <p:nvPr/>
        </p:nvSpPr>
        <p:spPr>
          <a:xfrm>
            <a:off x="8251230" y="3647976"/>
            <a:ext cx="934740" cy="314920"/>
          </a:xfrm>
          <a:prstGeom prst="roundRect">
            <a:avLst>
              <a:gd name="adj" fmla="val 16131"/>
            </a:avLst>
          </a:prstGeom>
          <a:solidFill>
            <a:srgbClr val="E3E9F6"/>
          </a:solidFill>
          <a:ln/>
        </p:spPr>
      </p:sp>
      <p:sp>
        <p:nvSpPr>
          <p:cNvPr id="30" name="Text 28"/>
          <p:cNvSpPr/>
          <p:nvPr/>
        </p:nvSpPr>
        <p:spPr>
          <a:xfrm>
            <a:off x="8352830" y="3698776"/>
            <a:ext cx="7823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34" charset="0"/>
                <a:ea typeface="JetBrains Mono" pitchFamily="34" charset="-122"/>
                <a:cs typeface="JetBrains Mono" pitchFamily="34" charset="-120"/>
              </a:rPr>
              <a:t>getStock</a:t>
            </a:r>
            <a:endParaRPr lang="en-US" sz="1200" dirty="0"/>
          </a:p>
        </p:txBody>
      </p:sp>
      <p:sp>
        <p:nvSpPr>
          <p:cNvPr id="31" name="Text 2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Be Vietnam Pro" pitchFamily="34" charset="0"/>
                <a:ea typeface="Be Vietnam Pro" pitchFamily="34" charset="-122"/>
                <a:cs typeface="Be Vietnam Pro" pitchFamily="34" charset="-120"/>
              </a:rPr>
              <a:t>04 · Kiến trúc</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A23B"/>
        </a:solidFill>
      </p:bgPr>
    </p:bg>
    <p:spTree>
      <p:nvGrpSpPr>
        <p:cNvPr id="1" name=""/>
        <p:cNvGrpSpPr/>
        <p:nvPr/>
      </p:nvGrpSpPr>
      <p:grpSpPr>
        <a:xfrm>
          <a:off x="0" y="0"/>
          <a:ext cx="0" cy="0"/>
          <a:chOff x="0" y="0"/>
          <a:chExt cx="0" cy="0"/>
        </a:xfrm>
      </p:grpSpPr>
      <p:sp>
        <p:nvSpPr>
          <p:cNvPr id="2" name="Text 0"/>
          <p:cNvSpPr/>
          <p:nvPr/>
        </p:nvSpPr>
        <p:spPr>
          <a:xfrm>
            <a:off x="812800" y="250319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E1A2B"/>
                </a:solidFill>
                <a:latin typeface="JetBrains Mono" pitchFamily="34" charset="0"/>
                <a:ea typeface="JetBrains Mono" pitchFamily="34" charset="-122"/>
                <a:cs typeface="JetBrains Mono" pitchFamily="34" charset="-120"/>
              </a:rPr>
              <a:t>01</a:t>
            </a:r>
            <a:endParaRPr lang="en-US" sz="2000" dirty="0"/>
          </a:p>
        </p:txBody>
      </p:sp>
      <p:sp>
        <p:nvSpPr>
          <p:cNvPr id="3" name="Text 1"/>
          <p:cNvSpPr/>
          <p:nvPr/>
        </p:nvSpPr>
        <p:spPr>
          <a:xfrm>
            <a:off x="812800" y="306199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0E1A2B"/>
                </a:solidFill>
                <a:latin typeface="Be Vietnam Pro" pitchFamily="34" charset="0"/>
                <a:ea typeface="Be Vietnam Pro" pitchFamily="34" charset="-122"/>
                <a:cs typeface="Be Vietnam Pro" pitchFamily="34" charset="-120"/>
              </a:rPr>
              <a:t>Theo dõi lô hàng</a:t>
            </a:r>
            <a:endParaRPr lang="en-US" sz="5600" dirty="0"/>
          </a:p>
        </p:txBody>
      </p:sp>
      <p:sp>
        <p:nvSpPr>
          <p:cNvPr id="4" name="Text 2"/>
          <p:cNvSpPr/>
          <p:nvPr/>
        </p:nvSpPr>
        <p:spPr>
          <a:xfrm>
            <a:off x="812800" y="401191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0E1A2B"/>
                </a:solidFill>
                <a:latin typeface="Be Vietnam Pro" pitchFamily="34" charset="0"/>
                <a:ea typeface="Be Vietnam Pro" pitchFamily="34" charset="-122"/>
                <a:cs typeface="Be Vietnam Pro" pitchFamily="34" charset="-120"/>
              </a:rPr>
              <a:t>LogisticsTracking.sol: mọi chặng vận chuyển được ghi lại trên chuỗi</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spc="-50" kern="0" dirty="0">
                <a:solidFill>
                  <a:srgbClr val="0E1A2B"/>
                </a:solidFill>
                <a:latin typeface="Be Vietnam Pro" pitchFamily="34" charset="0"/>
                <a:ea typeface="Be Vietnam Pro" pitchFamily="34" charset="-122"/>
                <a:cs typeface="Be Vietnam Pro" pitchFamily="34" charset="-120"/>
              </a:rPr>
              <a:t>Vòng đời một lô hàng</a:t>
            </a:r>
            <a:endParaRPr lang="en-US" sz="3600" dirty="0"/>
          </a:p>
        </p:txBody>
      </p:sp>
      <p:sp>
        <p:nvSpPr>
          <p:cNvPr id="3" name="Text 1"/>
          <p:cNvSpPr/>
          <p:nvPr/>
        </p:nvSpPr>
        <p:spPr>
          <a:xfrm>
            <a:off x="812800" y="1592560"/>
            <a:ext cx="10883392"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2F5FD0"/>
                </a:solidFill>
                <a:latin typeface="Be Vietnam Pro" pitchFamily="34" charset="0"/>
                <a:ea typeface="Be Vietnam Pro" pitchFamily="34" charset="-122"/>
                <a:cs typeface="Be Vietnam Pro" pitchFamily="34" charset="-120"/>
              </a:rPr>
              <a:t>updateStatus()</a:t>
            </a:r>
            <a:r>
              <a:rPr lang="en-US" sz="1500" dirty="0">
                <a:solidFill>
                  <a:srgbClr val="45505F"/>
                </a:solidFill>
                <a:latin typeface="Be Vietnam Pro" pitchFamily="34" charset="0"/>
                <a:ea typeface="Be Vietnam Pro" pitchFamily="34" charset="-122"/>
                <a:cs typeface="Be Vietnam Pro" pitchFamily="34" charset="-120"/>
              </a:rPr>
              <a:t> do người gửi, đơn vị vận chuyển hoặc người nhận gọi</a:t>
            </a:r>
            <a:endParaRPr lang="en-US" sz="1500" dirty="0"/>
          </a:p>
        </p:txBody>
      </p:sp>
      <p:sp>
        <p:nvSpPr>
          <p:cNvPr id="4" name="Shape 2"/>
          <p:cNvSpPr/>
          <p:nvPr/>
        </p:nvSpPr>
        <p:spPr>
          <a:xfrm>
            <a:off x="819150" y="2419350"/>
            <a:ext cx="2019300" cy="749300"/>
          </a:xfrm>
          <a:prstGeom prst="roundRect">
            <a:avLst>
              <a:gd name="adj" fmla="val 12712"/>
            </a:avLst>
          </a:prstGeom>
          <a:solidFill>
            <a:srgbClr val="FFFCF5"/>
          </a:solidFill>
          <a:ln w="12700">
            <a:solidFill>
              <a:srgbClr val="2F5FD0"/>
            </a:solidFill>
            <a:prstDash val="solid"/>
          </a:ln>
        </p:spPr>
      </p:sp>
      <p:sp>
        <p:nvSpPr>
          <p:cNvPr id="5" name="Text 3"/>
          <p:cNvSpPr/>
          <p:nvPr/>
        </p:nvSpPr>
        <p:spPr>
          <a:xfrm>
            <a:off x="1428750" y="2541290"/>
            <a:ext cx="8509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JetBrains Mono" pitchFamily="34" charset="0"/>
                <a:ea typeface="JetBrains Mono" pitchFamily="34" charset="-122"/>
                <a:cs typeface="JetBrains Mono" pitchFamily="34" charset="-120"/>
              </a:rPr>
              <a:t>Created</a:t>
            </a:r>
            <a:endParaRPr lang="en-US" sz="1500" dirty="0"/>
          </a:p>
        </p:txBody>
      </p:sp>
      <p:sp>
        <p:nvSpPr>
          <p:cNvPr id="6" name="Text 4"/>
          <p:cNvSpPr/>
          <p:nvPr/>
        </p:nvSpPr>
        <p:spPr>
          <a:xfrm>
            <a:off x="1570137" y="2833390"/>
            <a:ext cx="5681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Đã tạo</a:t>
            </a:r>
            <a:endParaRPr lang="en-US" sz="1200" dirty="0"/>
          </a:p>
        </p:txBody>
      </p:sp>
      <p:sp>
        <p:nvSpPr>
          <p:cNvPr id="7" name="Shape 5"/>
          <p:cNvSpPr/>
          <p:nvPr/>
        </p:nvSpPr>
        <p:spPr>
          <a:xfrm>
            <a:off x="3663950" y="2419350"/>
            <a:ext cx="2019300" cy="749300"/>
          </a:xfrm>
          <a:prstGeom prst="roundRect">
            <a:avLst>
              <a:gd name="adj" fmla="val 12712"/>
            </a:avLst>
          </a:prstGeom>
          <a:solidFill>
            <a:srgbClr val="FFFCF5"/>
          </a:solidFill>
          <a:ln w="12700">
            <a:solidFill>
              <a:srgbClr val="2F5FD0"/>
            </a:solidFill>
            <a:prstDash val="solid"/>
          </a:ln>
        </p:spPr>
      </p:sp>
      <p:sp>
        <p:nvSpPr>
          <p:cNvPr id="8" name="Text 6"/>
          <p:cNvSpPr/>
          <p:nvPr/>
        </p:nvSpPr>
        <p:spPr>
          <a:xfrm>
            <a:off x="4216400" y="2541290"/>
            <a:ext cx="965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JetBrains Mono" pitchFamily="34" charset="0"/>
                <a:ea typeface="JetBrains Mono" pitchFamily="34" charset="-122"/>
                <a:cs typeface="JetBrains Mono" pitchFamily="34" charset="-120"/>
              </a:rPr>
              <a:t>PickedUp</a:t>
            </a:r>
            <a:endParaRPr lang="en-US" sz="1500" dirty="0"/>
          </a:p>
        </p:txBody>
      </p:sp>
      <p:sp>
        <p:nvSpPr>
          <p:cNvPr id="9" name="Text 7"/>
          <p:cNvSpPr/>
          <p:nvPr/>
        </p:nvSpPr>
        <p:spPr>
          <a:xfrm>
            <a:off x="4228207" y="2833390"/>
            <a:ext cx="9414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Đã lấy hàng</a:t>
            </a:r>
            <a:endParaRPr lang="en-US" sz="1200" dirty="0"/>
          </a:p>
        </p:txBody>
      </p:sp>
      <p:sp>
        <p:nvSpPr>
          <p:cNvPr id="10" name="Shape 8"/>
          <p:cNvSpPr/>
          <p:nvPr/>
        </p:nvSpPr>
        <p:spPr>
          <a:xfrm>
            <a:off x="6508750" y="2419350"/>
            <a:ext cx="2019300" cy="749300"/>
          </a:xfrm>
          <a:prstGeom prst="roundRect">
            <a:avLst>
              <a:gd name="adj" fmla="val 12712"/>
            </a:avLst>
          </a:prstGeom>
          <a:solidFill>
            <a:srgbClr val="FFFCF5"/>
          </a:solidFill>
          <a:ln w="12700">
            <a:solidFill>
              <a:srgbClr val="2F5FD0"/>
            </a:solidFill>
            <a:prstDash val="solid"/>
          </a:ln>
        </p:spPr>
      </p:sp>
      <p:sp>
        <p:nvSpPr>
          <p:cNvPr id="11" name="Text 9"/>
          <p:cNvSpPr/>
          <p:nvPr/>
        </p:nvSpPr>
        <p:spPr>
          <a:xfrm>
            <a:off x="7004050" y="2541290"/>
            <a:ext cx="10795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JetBrains Mono" pitchFamily="34" charset="0"/>
                <a:ea typeface="JetBrains Mono" pitchFamily="34" charset="-122"/>
                <a:cs typeface="JetBrains Mono" pitchFamily="34" charset="-120"/>
              </a:rPr>
              <a:t>InTransit</a:t>
            </a:r>
            <a:endParaRPr lang="en-US" sz="1500" dirty="0"/>
          </a:p>
        </p:txBody>
      </p:sp>
      <p:sp>
        <p:nvSpPr>
          <p:cNvPr id="12" name="Text 10"/>
          <p:cNvSpPr/>
          <p:nvPr/>
        </p:nvSpPr>
        <p:spPr>
          <a:xfrm>
            <a:off x="6875562" y="2833390"/>
            <a:ext cx="13363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Đang vận chuyển</a:t>
            </a:r>
            <a:endParaRPr lang="en-US" sz="1200" dirty="0"/>
          </a:p>
        </p:txBody>
      </p:sp>
      <p:sp>
        <p:nvSpPr>
          <p:cNvPr id="13" name="Shape 11"/>
          <p:cNvSpPr/>
          <p:nvPr/>
        </p:nvSpPr>
        <p:spPr>
          <a:xfrm>
            <a:off x="9347200" y="2413000"/>
            <a:ext cx="2032000" cy="762000"/>
          </a:xfrm>
          <a:prstGeom prst="roundRect">
            <a:avLst>
              <a:gd name="adj" fmla="val 13333"/>
            </a:avLst>
          </a:prstGeom>
          <a:solidFill>
            <a:srgbClr val="0E1A2B"/>
          </a:solidFill>
          <a:ln/>
        </p:spPr>
      </p:sp>
      <p:sp>
        <p:nvSpPr>
          <p:cNvPr id="14" name="Text 12"/>
          <p:cNvSpPr/>
          <p:nvPr/>
        </p:nvSpPr>
        <p:spPr>
          <a:xfrm>
            <a:off x="9848850" y="2541290"/>
            <a:ext cx="10795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2EA"/>
                </a:solidFill>
                <a:latin typeface="JetBrains Mono" pitchFamily="34" charset="0"/>
                <a:ea typeface="JetBrains Mono" pitchFamily="34" charset="-122"/>
                <a:cs typeface="JetBrains Mono" pitchFamily="34" charset="-120"/>
              </a:rPr>
              <a:t>Delivered</a:t>
            </a:r>
            <a:endParaRPr lang="en-US" sz="1500" dirty="0"/>
          </a:p>
        </p:txBody>
      </p:sp>
      <p:sp>
        <p:nvSpPr>
          <p:cNvPr id="15" name="Text 13"/>
          <p:cNvSpPr/>
          <p:nvPr/>
        </p:nvSpPr>
        <p:spPr>
          <a:xfrm>
            <a:off x="9457829" y="2833390"/>
            <a:ext cx="18650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3D4"/>
                </a:solidFill>
                <a:latin typeface="Be Vietnam Pro" pitchFamily="34" charset="0"/>
                <a:ea typeface="Be Vietnam Pro" pitchFamily="34" charset="-122"/>
                <a:cs typeface="Be Vietnam Pro" pitchFamily="34" charset="-120"/>
              </a:rPr>
              <a:t>Đã giao · lưu deliveredAt</a:t>
            </a:r>
            <a:endParaRPr lang="en-US" sz="1200" dirty="0"/>
          </a:p>
        </p:txBody>
      </p:sp>
      <p:sp>
        <p:nvSpPr>
          <p:cNvPr id="16" name="Shape 14"/>
          <p:cNvSpPr/>
          <p:nvPr/>
        </p:nvSpPr>
        <p:spPr>
          <a:xfrm>
            <a:off x="2241550" y="4197350"/>
            <a:ext cx="2019300" cy="749300"/>
          </a:xfrm>
          <a:prstGeom prst="roundRect">
            <a:avLst>
              <a:gd name="adj" fmla="val 12712"/>
            </a:avLst>
          </a:prstGeom>
          <a:solidFill>
            <a:srgbClr val="FBEBD2"/>
          </a:solidFill>
          <a:ln w="12700">
            <a:solidFill>
              <a:srgbClr val="9A5200"/>
            </a:solidFill>
            <a:prstDash val="dash"/>
          </a:ln>
        </p:spPr>
      </p:sp>
      <p:sp>
        <p:nvSpPr>
          <p:cNvPr id="17" name="Text 15"/>
          <p:cNvSpPr/>
          <p:nvPr/>
        </p:nvSpPr>
        <p:spPr>
          <a:xfrm>
            <a:off x="2736850" y="4319290"/>
            <a:ext cx="10795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A4100"/>
                </a:solidFill>
                <a:latin typeface="JetBrains Mono" pitchFamily="34" charset="0"/>
                <a:ea typeface="JetBrains Mono" pitchFamily="34" charset="-122"/>
                <a:cs typeface="JetBrains Mono" pitchFamily="34" charset="-120"/>
              </a:rPr>
              <a:t>Cancelled</a:t>
            </a:r>
            <a:endParaRPr lang="en-US" sz="1500" dirty="0"/>
          </a:p>
        </p:txBody>
      </p:sp>
      <p:sp>
        <p:nvSpPr>
          <p:cNvPr id="18" name="Text 16"/>
          <p:cNvSpPr/>
          <p:nvPr/>
        </p:nvSpPr>
        <p:spPr>
          <a:xfrm>
            <a:off x="2631480" y="4611390"/>
            <a:ext cx="12901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4100"/>
                </a:solidFill>
                <a:latin typeface="Be Vietnam Pro" pitchFamily="34" charset="0"/>
                <a:ea typeface="Be Vietnam Pro" pitchFamily="34" charset="-122"/>
                <a:cs typeface="Be Vietnam Pro" pitchFamily="34" charset="-120"/>
              </a:rPr>
              <a:t>Đã hủy · lưu lý do</a:t>
            </a:r>
            <a:endParaRPr lang="en-US" sz="1200" dirty="0"/>
          </a:p>
        </p:txBody>
      </p:sp>
      <p:sp>
        <p:nvSpPr>
          <p:cNvPr id="19" name="Text 17"/>
          <p:cNvSpPr/>
          <p:nvPr/>
        </p:nvSpPr>
        <p:spPr>
          <a:xfrm>
            <a:off x="4572000" y="42418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4100"/>
                </a:solidFill>
                <a:latin typeface="JetBrains Mono" pitchFamily="34" charset="0"/>
                <a:ea typeface="JetBrains Mono" pitchFamily="34" charset="-122"/>
                <a:cs typeface="JetBrains Mono" pitchFamily="34" charset="-120"/>
              </a:rPr>
              <a:t>cancelShipment()</a:t>
            </a:r>
            <a:endParaRPr lang="en-US" sz="1200" dirty="0"/>
          </a:p>
        </p:txBody>
      </p:sp>
      <p:sp>
        <p:nvSpPr>
          <p:cNvPr id="20" name="Text 18"/>
          <p:cNvSpPr/>
          <p:nvPr/>
        </p:nvSpPr>
        <p:spPr>
          <a:xfrm>
            <a:off x="4572000" y="4480520"/>
            <a:ext cx="28778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Chỉ người gửi, khi đơn còn Created hoặc PickedUp</a:t>
            </a:r>
            <a:endParaRPr lang="en-US" sz="1200" dirty="0"/>
          </a:p>
        </p:txBody>
      </p:sp>
      <p:sp>
        <p:nvSpPr>
          <p:cNvPr id="21" name="Shape 19"/>
          <p:cNvSpPr/>
          <p:nvPr/>
        </p:nvSpPr>
        <p:spPr>
          <a:xfrm>
            <a:off x="7943850" y="4191000"/>
            <a:ext cx="0" cy="901700"/>
          </a:xfrm>
          <a:prstGeom prst="line">
            <a:avLst/>
          </a:prstGeom>
          <a:noFill/>
          <a:ln w="38100">
            <a:solidFill>
              <a:srgbClr val="0E1A2B"/>
            </a:solidFill>
            <a:prstDash val="solid"/>
          </a:ln>
        </p:spPr>
      </p:sp>
      <p:sp>
        <p:nvSpPr>
          <p:cNvPr id="22" name="Text 20"/>
          <p:cNvSpPr/>
          <p:nvPr/>
        </p:nvSpPr>
        <p:spPr>
          <a:xfrm>
            <a:off x="8140700" y="4241800"/>
            <a:ext cx="333565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Be Vietnam Pro" pitchFamily="34" charset="0"/>
                <a:ea typeface="Be Vietnam Pro" pitchFamily="34" charset="-122"/>
                <a:cs typeface="Be Vietnam Pro" pitchFamily="34" charset="-120"/>
              </a:rPr>
              <a:t>Delivered và Cancelled là trạng thái cuối: mọi cập nhật sau đó bị revert.</a:t>
            </a:r>
            <a:endParaRPr lang="en-US" sz="1500" dirty="0"/>
          </a:p>
        </p:txBody>
      </p:sp>
      <p:pic>
        <p:nvPicPr>
          <p:cNvPr id="23" name="Image 0" descr="connector">    </p:cNvPr>
          <p:cNvPicPr>
            <a:picLocks noChangeAspect="1"/>
          </p:cNvPicPr>
          <p:nvPr/>
        </p:nvPicPr>
        <p:blipFill>
          <a:blip r:embed="rId1"/>
          <a:srcRect l="0" r="0" t="0" b="0"/>
          <a:stretch/>
        </p:blipFill>
        <p:spPr>
          <a:xfrm>
            <a:off x="2794000" y="2743200"/>
            <a:ext cx="914400" cy="101600"/>
          </a:xfrm>
          <a:prstGeom prst="rect">
            <a:avLst/>
          </a:prstGeom>
        </p:spPr>
      </p:pic>
      <p:pic>
        <p:nvPicPr>
          <p:cNvPr id="24" name="Image 1" descr="connector">    </p:cNvPr>
          <p:cNvPicPr>
            <a:picLocks noChangeAspect="1"/>
          </p:cNvPicPr>
          <p:nvPr/>
        </p:nvPicPr>
        <p:blipFill>
          <a:blip r:embed="rId2"/>
          <a:srcRect l="0" r="0" t="0" b="0"/>
          <a:stretch/>
        </p:blipFill>
        <p:spPr>
          <a:xfrm>
            <a:off x="5638800" y="2743200"/>
            <a:ext cx="914400" cy="101600"/>
          </a:xfrm>
          <a:prstGeom prst="rect">
            <a:avLst/>
          </a:prstGeom>
        </p:spPr>
      </p:pic>
      <p:pic>
        <p:nvPicPr>
          <p:cNvPr id="25" name="Image 2" descr="connector">    </p:cNvPr>
          <p:cNvPicPr>
            <a:picLocks noChangeAspect="1"/>
          </p:cNvPicPr>
          <p:nvPr/>
        </p:nvPicPr>
        <p:blipFill>
          <a:blip r:embed="rId3"/>
          <a:srcRect l="0" r="0" t="0" b="0"/>
          <a:stretch/>
        </p:blipFill>
        <p:spPr>
          <a:xfrm>
            <a:off x="8483600" y="2743200"/>
            <a:ext cx="914400" cy="101600"/>
          </a:xfrm>
          <a:prstGeom prst="rect">
            <a:avLst/>
          </a:prstGeom>
        </p:spPr>
      </p:pic>
      <p:pic>
        <p:nvPicPr>
          <p:cNvPr id="26" name="Image 3" descr="connector">    </p:cNvPr>
          <p:cNvPicPr>
            <a:picLocks noChangeAspect="1"/>
          </p:cNvPicPr>
          <p:nvPr/>
        </p:nvPicPr>
        <p:blipFill>
          <a:blip r:embed="rId4"/>
          <a:srcRect l="0" r="0" t="0" b="0"/>
          <a:stretch/>
        </p:blipFill>
        <p:spPr>
          <a:xfrm>
            <a:off x="1778000" y="3124200"/>
            <a:ext cx="1003300" cy="1117600"/>
          </a:xfrm>
          <a:prstGeom prst="rect">
            <a:avLst/>
          </a:prstGeom>
        </p:spPr>
      </p:pic>
      <p:pic>
        <p:nvPicPr>
          <p:cNvPr id="27" name="Image 4" descr="connector">    </p:cNvPr>
          <p:cNvPicPr>
            <a:picLocks noChangeAspect="1"/>
          </p:cNvPicPr>
          <p:nvPr/>
        </p:nvPicPr>
        <p:blipFill>
          <a:blip r:embed="rId5"/>
          <a:srcRect l="0" r="0" t="0" b="0"/>
          <a:stretch/>
        </p:blipFill>
        <p:spPr>
          <a:xfrm>
            <a:off x="3721100" y="3124200"/>
            <a:ext cx="1003300" cy="1117600"/>
          </a:xfrm>
          <a:prstGeom prst="rect">
            <a:avLst/>
          </a:prstGeom>
        </p:spPr>
      </p:pic>
      <p:sp>
        <p:nvSpPr>
          <p:cNvPr id="28"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Be Vietnam Pro" pitchFamily="34" charset="0"/>
                <a:ea typeface="Be Vietnam Pro" pitchFamily="34" charset="-122"/>
                <a:cs typeface="Be Vietnam Pro" pitchFamily="34" charset="-120"/>
              </a:rPr>
              <a:t>06 · Theo dõi lô hàng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spc="-50" kern="0" dirty="0">
                <a:solidFill>
                  <a:srgbClr val="0E1A2B"/>
                </a:solidFill>
                <a:latin typeface="Be Vietnam Pro" pitchFamily="34" charset="0"/>
                <a:ea typeface="Be Vietnam Pro" pitchFamily="34" charset="-122"/>
                <a:cs typeface="Be Vietnam Pro" pitchFamily="34" charset="-120"/>
              </a:rPr>
              <a:t>Tạo lô hàng: createShipment()</a:t>
            </a:r>
            <a:endParaRPr lang="en-US" sz="3600" dirty="0"/>
          </a:p>
        </p:txBody>
      </p:sp>
      <p:sp>
        <p:nvSpPr>
          <p:cNvPr id="3" name="Shape 1"/>
          <p:cNvSpPr/>
          <p:nvPr/>
        </p:nvSpPr>
        <p:spPr>
          <a:xfrm>
            <a:off x="812800" y="1643360"/>
            <a:ext cx="6604000" cy="3822402"/>
          </a:xfrm>
          <a:prstGeom prst="roundRect">
            <a:avLst>
              <a:gd name="adj" fmla="val 3323"/>
            </a:avLst>
          </a:prstGeom>
          <a:solidFill>
            <a:srgbClr val="0E1A2B"/>
          </a:solidFill>
          <a:ln/>
        </p:spPr>
      </p:sp>
      <p:sp>
        <p:nvSpPr>
          <p:cNvPr id="4" name="Text 2"/>
          <p:cNvSpPr/>
          <p:nvPr/>
        </p:nvSpPr>
        <p:spPr>
          <a:xfrm>
            <a:off x="1066800" y="1897360"/>
            <a:ext cx="6278880" cy="3339802"/>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F2B35A"/>
                </a:solidFill>
                <a:latin typeface="JetBrains Mono" pitchFamily="34" charset="0"/>
                <a:ea typeface="JetBrains Mono" pitchFamily="34" charset="-122"/>
                <a:cs typeface="JetBrains Mono" pitchFamily="34" charset="-120"/>
              </a:rPr>
              <a:t>function</a:t>
            </a:r>
            <a:r>
              <a:rPr lang="en-US" sz="1200" dirty="0">
                <a:solidFill>
                  <a:srgbClr val="E6E1D6"/>
                </a:solidFill>
                <a:latin typeface="JetBrains Mono" pitchFamily="34" charset="0"/>
                <a:ea typeface="JetBrains Mono" pitchFamily="34" charset="-122"/>
                <a:cs typeface="JetBrains Mono" pitchFamily="34" charset="-120"/>
              </a:rPr>
              <a:t> createShipment(</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8DB4FF"/>
                </a:solidFill>
                <a:latin typeface="JetBrains Mono" pitchFamily="34" charset="0"/>
                <a:ea typeface="JetBrains Mono" pitchFamily="34" charset="-122"/>
                <a:cs typeface="JetBrains Mono" pitchFamily="34" charset="-120"/>
              </a:rPr>
              <a:t>address</a:t>
            </a:r>
            <a:r>
              <a:rPr lang="en-US" sz="1200" dirty="0">
                <a:solidFill>
                  <a:srgbClr val="E6E1D6"/>
                </a:solidFill>
                <a:latin typeface="JetBrains Mono" pitchFamily="34" charset="0"/>
                <a:ea typeface="JetBrains Mono" pitchFamily="34" charset="-122"/>
                <a:cs typeface="JetBrains Mono" pitchFamily="34" charset="-120"/>
              </a:rPr>
              <a:t> _carrier, </a:t>
            </a:r>
            <a:r>
              <a:rPr lang="en-US" sz="1200" dirty="0">
                <a:solidFill>
                  <a:srgbClr val="8DB4FF"/>
                </a:solidFill>
                <a:latin typeface="JetBrains Mono" pitchFamily="34" charset="0"/>
                <a:ea typeface="JetBrains Mono" pitchFamily="34" charset="-122"/>
                <a:cs typeface="JetBrains Mono" pitchFamily="34" charset="-120"/>
              </a:rPr>
              <a:t>address</a:t>
            </a:r>
            <a:r>
              <a:rPr lang="en-US" sz="1200" dirty="0">
                <a:solidFill>
                  <a:srgbClr val="E6E1D6"/>
                </a:solidFill>
                <a:latin typeface="JetBrains Mono" pitchFamily="34" charset="0"/>
                <a:ea typeface="JetBrains Mono" pitchFamily="34" charset="-122"/>
                <a:cs typeface="JetBrains Mono" pitchFamily="34" charset="-120"/>
              </a:rPr>
              <a:t> _receiver,</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8DB4FF"/>
                </a:solidFill>
                <a:latin typeface="JetBrains Mono" pitchFamily="34" charset="0"/>
                <a:ea typeface="JetBrains Mono" pitchFamily="34" charset="-122"/>
                <a:cs typeface="JetBrains Mono" pitchFamily="34" charset="-120"/>
              </a:rPr>
              <a:t>string calldata</a:t>
            </a:r>
            <a:r>
              <a:rPr lang="en-US" sz="1200" dirty="0">
                <a:solidFill>
                  <a:srgbClr val="E6E1D6"/>
                </a:solidFill>
                <a:latin typeface="JetBrains Mono" pitchFamily="34" charset="0"/>
                <a:ea typeface="JetBrains Mono" pitchFamily="34" charset="-122"/>
                <a:cs typeface="JetBrains Mono" pitchFamily="34" charset="-120"/>
              </a:rPr>
              <a:t> _description,</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8DB4FF"/>
                </a:solidFill>
                <a:latin typeface="JetBrains Mono" pitchFamily="34" charset="0"/>
                <a:ea typeface="JetBrains Mono" pitchFamily="34" charset="-122"/>
                <a:cs typeface="JetBrains Mono" pitchFamily="34" charset="-120"/>
              </a:rPr>
              <a:t>string calldata</a:t>
            </a:r>
            <a:r>
              <a:rPr lang="en-US" sz="1200" dirty="0">
                <a:solidFill>
                  <a:srgbClr val="E6E1D6"/>
                </a:solidFill>
                <a:latin typeface="JetBrains Mono" pitchFamily="34" charset="0"/>
                <a:ea typeface="JetBrains Mono" pitchFamily="34" charset="-122"/>
                <a:cs typeface="JetBrains Mono" pitchFamily="34" charset="-120"/>
              </a:rPr>
              <a:t> _origin, </a:t>
            </a:r>
            <a:r>
              <a:rPr lang="en-US" sz="1200" dirty="0">
                <a:solidFill>
                  <a:srgbClr val="8DB4FF"/>
                </a:solidFill>
                <a:latin typeface="JetBrains Mono" pitchFamily="34" charset="0"/>
                <a:ea typeface="JetBrains Mono" pitchFamily="34" charset="-122"/>
                <a:cs typeface="JetBrains Mono" pitchFamily="34" charset="-120"/>
              </a:rPr>
              <a:t>string calldata</a:t>
            </a:r>
            <a:r>
              <a:rPr lang="en-US" sz="1200" dirty="0">
                <a:solidFill>
                  <a:srgbClr val="E6E1D6"/>
                </a:solidFill>
                <a:latin typeface="JetBrains Mono" pitchFamily="34" charset="0"/>
                <a:ea typeface="JetBrains Mono" pitchFamily="34" charset="-122"/>
                <a:cs typeface="JetBrains Mono" pitchFamily="34" charset="-120"/>
              </a:rPr>
              <a:t> _destination</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external returns</a:t>
            </a: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8DB4FF"/>
                </a:solidFill>
                <a:latin typeface="JetBrains Mono" pitchFamily="34" charset="0"/>
                <a:ea typeface="JetBrains Mono" pitchFamily="34" charset="-122"/>
                <a:cs typeface="JetBrains Mono" pitchFamily="34" charset="-120"/>
              </a:rPr>
              <a:t>uint256</a:t>
            </a:r>
            <a:r>
              <a:rPr lang="en-US" sz="1200" dirty="0">
                <a:solidFill>
                  <a:srgbClr val="E6E1D6"/>
                </a:solidFill>
                <a:latin typeface="JetBrains Mono" pitchFamily="34" charset="0"/>
                <a:ea typeface="JetBrains Mono" pitchFamily="34" charset="-122"/>
                <a:cs typeface="JetBrains Mono" pitchFamily="34" charset="-120"/>
              </a:rPr>
              <a:t>) {</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require</a:t>
            </a:r>
            <a:r>
              <a:rPr lang="en-US" sz="1200" dirty="0">
                <a:solidFill>
                  <a:srgbClr val="E6E1D6"/>
                </a:solidFill>
                <a:latin typeface="JetBrains Mono" pitchFamily="34" charset="0"/>
                <a:ea typeface="JetBrains Mono" pitchFamily="34" charset="-122"/>
                <a:cs typeface="JetBrains Mono" pitchFamily="34" charset="-120"/>
              </a:rPr>
              <a:t>(_carrier != address(0) &amp;&amp; _receiver != address(0),</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9BCB9F"/>
                </a:solidFill>
                <a:latin typeface="JetBrains Mono" pitchFamily="34" charset="0"/>
                <a:ea typeface="JetBrains Mono" pitchFamily="34" charset="-122"/>
                <a:cs typeface="JetBrains Mono" pitchFamily="34" charset="-120"/>
              </a:rPr>
              <a:t>"Dia chi khong hop le"</a:t>
            </a:r>
            <a:r>
              <a:rPr lang="en-US" sz="1200" dirty="0">
                <a:solidFill>
                  <a:srgbClr val="E6E1D6"/>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8DB4FF"/>
                </a:solidFill>
                <a:latin typeface="JetBrains Mono" pitchFamily="34" charset="0"/>
                <a:ea typeface="JetBrains Mono" pitchFamily="34" charset="-122"/>
                <a:cs typeface="JetBrains Mono" pitchFamily="34" charset="-120"/>
              </a:rPr>
              <a:t>uint256</a:t>
            </a:r>
            <a:r>
              <a:rPr lang="en-US" sz="1200" dirty="0">
                <a:solidFill>
                  <a:srgbClr val="E6E1D6"/>
                </a:solidFill>
                <a:latin typeface="JetBrains Mono" pitchFamily="34" charset="0"/>
                <a:ea typeface="JetBrains Mono" pitchFamily="34" charset="-122"/>
                <a:cs typeface="JetBrains Mono" pitchFamily="34" charset="-120"/>
              </a:rPr>
              <a:t> id = nextShipmentId++;</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shipments[id] = Shipment({ id: id, sender: msg.sender,</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carrier: _carrier, receiver: _receiver, ...,</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createdAt: block.timestamp, status: Status.Created });</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shipmentHistory[id].push(StatusUpdate({ ... }));</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emit</a:t>
            </a:r>
            <a:r>
              <a:rPr lang="en-US" sz="1200" dirty="0">
                <a:solidFill>
                  <a:srgbClr val="E6E1D6"/>
                </a:solidFill>
                <a:latin typeface="JetBrains Mono" pitchFamily="34" charset="0"/>
                <a:ea typeface="JetBrains Mono" pitchFamily="34" charset="-122"/>
                <a:cs typeface="JetBrains Mono" pitchFamily="34" charset="-120"/>
              </a:rPr>
              <a:t> ShipmentCreated(id, msg.sender, _carrier, _receiver);</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return</a:t>
            </a:r>
            <a:r>
              <a:rPr lang="en-US" sz="1200" dirty="0">
                <a:solidFill>
                  <a:srgbClr val="E6E1D6"/>
                </a:solidFill>
                <a:latin typeface="JetBrains Mono" pitchFamily="34" charset="0"/>
                <a:ea typeface="JetBrains Mono" pitchFamily="34" charset="-122"/>
                <a:cs typeface="JetBrains Mono" pitchFamily="34" charset="-120"/>
              </a:rPr>
              <a:t> id;</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a:t>
            </a:r>
            <a:endParaRPr lang="en-US" sz="1200" dirty="0"/>
          </a:p>
        </p:txBody>
      </p:sp>
      <p:sp>
        <p:nvSpPr>
          <p:cNvPr id="5" name="Text 3"/>
          <p:cNvSpPr/>
          <p:nvPr/>
        </p:nvSpPr>
        <p:spPr>
          <a:xfrm>
            <a:off x="7721600" y="1643360"/>
            <a:ext cx="376732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Be Vietnam Pro" pitchFamily="34" charset="0"/>
                <a:ea typeface="Be Vietnam Pro" pitchFamily="34" charset="-122"/>
                <a:cs typeface="Be Vietnam Pro" pitchFamily="34" charset="-120"/>
              </a:rPr>
              <a:t>Người gửi = msg.sender</a:t>
            </a:r>
            <a:endParaRPr lang="en-US" sz="1500" dirty="0"/>
          </a:p>
        </p:txBody>
      </p:sp>
      <p:sp>
        <p:nvSpPr>
          <p:cNvPr id="6" name="Text 4"/>
          <p:cNvSpPr/>
          <p:nvPr/>
        </p:nvSpPr>
        <p:spPr>
          <a:xfrm>
            <a:off x="7721600" y="1941810"/>
            <a:ext cx="376732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5505F"/>
                </a:solidFill>
                <a:latin typeface="Be Vietnam Pro" pitchFamily="34" charset="0"/>
                <a:ea typeface="Be Vietnam Pro" pitchFamily="34" charset="-122"/>
                <a:cs typeface="Be Vietnam Pro" pitchFamily="34" charset="-120"/>
              </a:rPr>
              <a:t>Không cần đăng nhập: ví gọi hàm chính là người gửi, không thể giả mạo.</a:t>
            </a:r>
            <a:endParaRPr lang="en-US" sz="1200" dirty="0"/>
          </a:p>
        </p:txBody>
      </p:sp>
      <p:sp>
        <p:nvSpPr>
          <p:cNvPr id="7" name="Text 5"/>
          <p:cNvSpPr/>
          <p:nvPr/>
        </p:nvSpPr>
        <p:spPr>
          <a:xfrm>
            <a:off x="7721600" y="2612330"/>
            <a:ext cx="376732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Be Vietnam Pro" pitchFamily="34" charset="0"/>
                <a:ea typeface="Be Vietnam Pro" pitchFamily="34" charset="-122"/>
                <a:cs typeface="Be Vietnam Pro" pitchFamily="34" charset="-120"/>
              </a:rPr>
              <a:t>Kiểm tra đầu vào</a:t>
            </a:r>
            <a:endParaRPr lang="en-US" sz="1500" dirty="0"/>
          </a:p>
        </p:txBody>
      </p:sp>
      <p:sp>
        <p:nvSpPr>
          <p:cNvPr id="8" name="Text 6"/>
          <p:cNvSpPr/>
          <p:nvPr/>
        </p:nvSpPr>
        <p:spPr>
          <a:xfrm>
            <a:off x="7721600" y="2910780"/>
            <a:ext cx="376732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5505F"/>
                </a:solidFill>
                <a:latin typeface="Be Vietnam Pro" pitchFamily="34" charset="0"/>
                <a:ea typeface="Be Vietnam Pro" pitchFamily="34" charset="-122"/>
                <a:cs typeface="Be Vietnam Pro" pitchFamily="34" charset="-120"/>
              </a:rPr>
              <a:t>Địa chỉ đơn vị vận chuyển và người nhận không được là địa chỉ 0.</a:t>
            </a:r>
            <a:endParaRPr lang="en-US" sz="1200" dirty="0"/>
          </a:p>
        </p:txBody>
      </p:sp>
      <p:sp>
        <p:nvSpPr>
          <p:cNvPr id="9" name="Text 7"/>
          <p:cNvSpPr/>
          <p:nvPr/>
        </p:nvSpPr>
        <p:spPr>
          <a:xfrm>
            <a:off x="7721600" y="3581301"/>
            <a:ext cx="376732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Be Vietnam Pro" pitchFamily="34" charset="0"/>
                <a:ea typeface="Be Vietnam Pro" pitchFamily="34" charset="-122"/>
                <a:cs typeface="Be Vietnam Pro" pitchFamily="34" charset="-120"/>
              </a:rPr>
              <a:t>Bản ghi đầu tiên và sự kiện</a:t>
            </a:r>
            <a:endParaRPr lang="en-US" sz="1500" dirty="0"/>
          </a:p>
        </p:txBody>
      </p:sp>
      <p:sp>
        <p:nvSpPr>
          <p:cNvPr id="10" name="Text 8"/>
          <p:cNvSpPr/>
          <p:nvPr/>
        </p:nvSpPr>
        <p:spPr>
          <a:xfrm>
            <a:off x="7721600" y="3879751"/>
            <a:ext cx="376732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5505F"/>
                </a:solidFill>
                <a:latin typeface="Be Vietnam Pro" pitchFamily="34" charset="0"/>
                <a:ea typeface="Be Vietnam Pro" pitchFamily="34" charset="-122"/>
                <a:cs typeface="Be Vietnam Pro" pitchFamily="34" charset="-120"/>
              </a:rPr>
              <a:t>Trạng thái Created vào lịch sử; event ShipmentCreated báo cho dApp.</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Be Vietnam Pro" pitchFamily="34" charset="0"/>
                <a:ea typeface="Be Vietnam Pro" pitchFamily="34" charset="-122"/>
                <a:cs typeface="Be Vietnam Pro" pitchFamily="34" charset="-120"/>
              </a:rPr>
              <a:t>07 · Theo dõi lô hàng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spc="-50" kern="0" dirty="0">
                <a:solidFill>
                  <a:srgbClr val="0E1A2B"/>
                </a:solidFill>
                <a:latin typeface="Be Vietnam Pro" pitchFamily="34" charset="0"/>
                <a:ea typeface="Be Vietnam Pro" pitchFamily="34" charset="-122"/>
                <a:cs typeface="Be Vietnam Pro" pitchFamily="34" charset="-120"/>
              </a:rPr>
              <a:t>Cập nhật hành trình: updateStatus()</a:t>
            </a:r>
            <a:endParaRPr lang="en-US" sz="3600" dirty="0"/>
          </a:p>
        </p:txBody>
      </p:sp>
      <p:sp>
        <p:nvSpPr>
          <p:cNvPr id="3" name="Shape 1"/>
          <p:cNvSpPr/>
          <p:nvPr/>
        </p:nvSpPr>
        <p:spPr>
          <a:xfrm>
            <a:off x="812800" y="1643360"/>
            <a:ext cx="6731000" cy="4043363"/>
          </a:xfrm>
          <a:prstGeom prst="roundRect">
            <a:avLst>
              <a:gd name="adj" fmla="val 3141"/>
            </a:avLst>
          </a:prstGeom>
          <a:solidFill>
            <a:srgbClr val="0E1A2B"/>
          </a:solidFill>
          <a:ln/>
        </p:spPr>
      </p:sp>
      <p:sp>
        <p:nvSpPr>
          <p:cNvPr id="4" name="Text 2"/>
          <p:cNvSpPr/>
          <p:nvPr/>
        </p:nvSpPr>
        <p:spPr>
          <a:xfrm>
            <a:off x="1066800" y="1897360"/>
            <a:ext cx="6409690" cy="3560763"/>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F2B35A"/>
                </a:solidFill>
                <a:latin typeface="JetBrains Mono" pitchFamily="34" charset="0"/>
                <a:ea typeface="JetBrains Mono" pitchFamily="34" charset="-122"/>
                <a:cs typeface="JetBrains Mono" pitchFamily="34" charset="-120"/>
              </a:rPr>
              <a:t>function</a:t>
            </a:r>
            <a:r>
              <a:rPr lang="en-US" sz="1200" dirty="0">
                <a:solidFill>
                  <a:srgbClr val="E6E1D6"/>
                </a:solidFill>
                <a:latin typeface="JetBrains Mono" pitchFamily="34" charset="0"/>
                <a:ea typeface="JetBrains Mono" pitchFamily="34" charset="-122"/>
                <a:cs typeface="JetBrains Mono" pitchFamily="34" charset="-120"/>
              </a:rPr>
              <a:t> updateStatus(</a:t>
            </a:r>
            <a:r>
              <a:rPr lang="en-US" sz="1200" dirty="0">
                <a:solidFill>
                  <a:srgbClr val="8DB4FF"/>
                </a:solidFill>
                <a:latin typeface="JetBrains Mono" pitchFamily="34" charset="0"/>
                <a:ea typeface="JetBrains Mono" pitchFamily="34" charset="-122"/>
                <a:cs typeface="JetBrains Mono" pitchFamily="34" charset="-120"/>
              </a:rPr>
              <a:t>uint256</a:t>
            </a:r>
            <a:r>
              <a:rPr lang="en-US" sz="1200" dirty="0">
                <a:solidFill>
                  <a:srgbClr val="E6E1D6"/>
                </a:solidFill>
                <a:latin typeface="JetBrains Mono" pitchFamily="34" charset="0"/>
                <a:ea typeface="JetBrains Mono" pitchFamily="34" charset="-122"/>
                <a:cs typeface="JetBrains Mono" pitchFamily="34" charset="-120"/>
              </a:rPr>
              <a:t> _id, Status _newStatus,</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8DB4FF"/>
                </a:solidFill>
                <a:latin typeface="JetBrains Mono" pitchFamily="34" charset="0"/>
                <a:ea typeface="JetBrains Mono" pitchFamily="34" charset="-122"/>
                <a:cs typeface="JetBrains Mono" pitchFamily="34" charset="-120"/>
              </a:rPr>
              <a:t>string calldata</a:t>
            </a:r>
            <a:r>
              <a:rPr lang="en-US" sz="1200" dirty="0">
                <a:solidFill>
                  <a:srgbClr val="E6E1D6"/>
                </a:solidFill>
                <a:latin typeface="JetBrains Mono" pitchFamily="34" charset="0"/>
                <a:ea typeface="JetBrains Mono" pitchFamily="34" charset="-122"/>
                <a:cs typeface="JetBrains Mono" pitchFamily="34" charset="-120"/>
              </a:rPr>
              <a:t> _location, </a:t>
            </a:r>
            <a:r>
              <a:rPr lang="en-US" sz="1200" dirty="0">
                <a:solidFill>
                  <a:srgbClr val="8DB4FF"/>
                </a:solidFill>
                <a:latin typeface="JetBrains Mono" pitchFamily="34" charset="0"/>
                <a:ea typeface="JetBrains Mono" pitchFamily="34" charset="-122"/>
                <a:cs typeface="JetBrains Mono" pitchFamily="34" charset="-120"/>
              </a:rPr>
              <a:t>string calldata</a:t>
            </a:r>
            <a:r>
              <a:rPr lang="en-US" sz="1200" dirty="0">
                <a:solidFill>
                  <a:srgbClr val="E6E1D6"/>
                </a:solidFill>
                <a:latin typeface="JetBrains Mono" pitchFamily="34" charset="0"/>
                <a:ea typeface="JetBrains Mono" pitchFamily="34" charset="-122"/>
                <a:cs typeface="JetBrains Mono" pitchFamily="34" charset="-120"/>
              </a:rPr>
              <a:t> _note) </a:t>
            </a:r>
            <a:r>
              <a:rPr lang="en-US" sz="1200" dirty="0">
                <a:solidFill>
                  <a:srgbClr val="F2B35A"/>
                </a:solidFill>
                <a:latin typeface="JetBrains Mono" pitchFamily="34" charset="0"/>
                <a:ea typeface="JetBrains Mono" pitchFamily="34" charset="-122"/>
                <a:cs typeface="JetBrains Mono" pitchFamily="34" charset="-120"/>
              </a:rPr>
              <a:t>external</a:t>
            </a:r>
            <a:r>
              <a:rPr lang="en-US" sz="1200" dirty="0">
                <a:solidFill>
                  <a:srgbClr val="E6E1D6"/>
                </a:solidFill>
                <a:latin typeface="JetBrains Mono" pitchFamily="34" charset="0"/>
                <a:ea typeface="JetBrains Mono" pitchFamily="34" charset="-122"/>
                <a:cs typeface="JetBrains Mono" pitchFamily="34" charset="-120"/>
              </a:rPr>
              <a:t> {</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require</a:t>
            </a:r>
            <a:r>
              <a:rPr lang="en-US" sz="1200" dirty="0">
                <a:solidFill>
                  <a:srgbClr val="E6E1D6"/>
                </a:solidFill>
                <a:latin typeface="JetBrains Mono" pitchFamily="34" charset="0"/>
                <a:ea typeface="JetBrains Mono" pitchFamily="34" charset="-122"/>
                <a:cs typeface="JetBrains Mono" pitchFamily="34" charset="-120"/>
              </a:rPr>
              <a:t>(shipments[_id].id != 0, </a:t>
            </a:r>
            <a:r>
              <a:rPr lang="en-US" sz="1200" dirty="0">
                <a:solidFill>
                  <a:srgbClr val="9BCB9F"/>
                </a:solidFill>
                <a:latin typeface="JetBrains Mono" pitchFamily="34" charset="0"/>
                <a:ea typeface="JetBrains Mono" pitchFamily="34" charset="-122"/>
                <a:cs typeface="JetBrains Mono" pitchFamily="34" charset="-120"/>
              </a:rPr>
              <a:t>"Shipment khong ton tai"</a:t>
            </a:r>
            <a:r>
              <a:rPr lang="en-US" sz="1200" dirty="0">
                <a:solidFill>
                  <a:srgbClr val="E6E1D6"/>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Shipment </a:t>
            </a:r>
            <a:r>
              <a:rPr lang="en-US" sz="1200" dirty="0">
                <a:solidFill>
                  <a:srgbClr val="8DB4FF"/>
                </a:solidFill>
                <a:latin typeface="JetBrains Mono" pitchFamily="34" charset="0"/>
                <a:ea typeface="JetBrains Mono" pitchFamily="34" charset="-122"/>
                <a:cs typeface="JetBrains Mono" pitchFamily="34" charset="-120"/>
              </a:rPr>
              <a:t>storage</a:t>
            </a:r>
            <a:r>
              <a:rPr lang="en-US" sz="1200" dirty="0">
                <a:solidFill>
                  <a:srgbClr val="E6E1D6"/>
                </a:solidFill>
                <a:latin typeface="JetBrains Mono" pitchFamily="34" charset="0"/>
                <a:ea typeface="JetBrains Mono" pitchFamily="34" charset="-122"/>
                <a:cs typeface="JetBrains Mono" pitchFamily="34" charset="-120"/>
              </a:rPr>
              <a:t> s = shipments[_id];</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require</a:t>
            </a:r>
            <a:r>
              <a:rPr lang="en-US" sz="1200" dirty="0">
                <a:solidFill>
                  <a:srgbClr val="E6E1D6"/>
                </a:solidFill>
                <a:latin typeface="JetBrains Mono" pitchFamily="34" charset="0"/>
                <a:ea typeface="JetBrains Mono" pitchFamily="34" charset="-122"/>
                <a:cs typeface="JetBrains Mono" pitchFamily="34" charset="-120"/>
              </a:rPr>
              <a:t>(msg.sender == s.sender || msg.sender == s.carrier ||</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msg.sender == s.receiver, </a:t>
            </a:r>
            <a:r>
              <a:rPr lang="en-US" sz="1200" dirty="0">
                <a:solidFill>
                  <a:srgbClr val="9BCB9F"/>
                </a:solidFill>
                <a:latin typeface="JetBrains Mono" pitchFamily="34" charset="0"/>
                <a:ea typeface="JetBrains Mono" pitchFamily="34" charset="-122"/>
                <a:cs typeface="JetBrains Mono" pitchFamily="34" charset="-120"/>
              </a:rPr>
              <a:t>"Ban khong lien quan..."</a:t>
            </a:r>
            <a:r>
              <a:rPr lang="en-US" sz="1200" dirty="0">
                <a:solidFill>
                  <a:srgbClr val="E6E1D6"/>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require</a:t>
            </a:r>
            <a:r>
              <a:rPr lang="en-US" sz="1200" dirty="0">
                <a:solidFill>
                  <a:srgbClr val="E6E1D6"/>
                </a:solidFill>
                <a:latin typeface="JetBrains Mono" pitchFamily="34" charset="0"/>
                <a:ea typeface="JetBrains Mono" pitchFamily="34" charset="-122"/>
                <a:cs typeface="JetBrains Mono" pitchFamily="34" charset="-120"/>
              </a:rPr>
              <a:t>(s.status != Status.Delivered, </a:t>
            </a:r>
            <a:r>
              <a:rPr lang="en-US" sz="1200" dirty="0">
                <a:solidFill>
                  <a:srgbClr val="9BCB9F"/>
                </a:solidFill>
                <a:latin typeface="JetBrains Mono" pitchFamily="34" charset="0"/>
                <a:ea typeface="JetBrains Mono" pitchFamily="34" charset="-122"/>
                <a:cs typeface="JetBrains Mono" pitchFamily="34" charset="-120"/>
              </a:rPr>
              <a:t>"Don hang da giao..."</a:t>
            </a:r>
            <a:r>
              <a:rPr lang="en-US" sz="1200" dirty="0">
                <a:solidFill>
                  <a:srgbClr val="E6E1D6"/>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require</a:t>
            </a:r>
            <a:r>
              <a:rPr lang="en-US" sz="1200" dirty="0">
                <a:solidFill>
                  <a:srgbClr val="E6E1D6"/>
                </a:solidFill>
                <a:latin typeface="JetBrains Mono" pitchFamily="34" charset="0"/>
                <a:ea typeface="JetBrains Mono" pitchFamily="34" charset="-122"/>
                <a:cs typeface="JetBrains Mono" pitchFamily="34" charset="-120"/>
              </a:rPr>
              <a:t>(s.status != Status.Cancelled, </a:t>
            </a:r>
            <a:r>
              <a:rPr lang="en-US" sz="1200" dirty="0">
                <a:solidFill>
                  <a:srgbClr val="9BCB9F"/>
                </a:solidFill>
                <a:latin typeface="JetBrains Mono" pitchFamily="34" charset="0"/>
                <a:ea typeface="JetBrains Mono" pitchFamily="34" charset="-122"/>
                <a:cs typeface="JetBrains Mono" pitchFamily="34" charset="-120"/>
              </a:rPr>
              <a:t>"Don hang da bi huy"</a:t>
            </a:r>
            <a:r>
              <a:rPr lang="en-US" sz="1200" dirty="0">
                <a:solidFill>
                  <a:srgbClr val="E6E1D6"/>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require</a:t>
            </a:r>
            <a:r>
              <a:rPr lang="en-US" sz="1200" dirty="0">
                <a:solidFill>
                  <a:srgbClr val="E6E1D6"/>
                </a:solidFill>
                <a:latin typeface="JetBrains Mono" pitchFamily="34" charset="0"/>
                <a:ea typeface="JetBrains Mono" pitchFamily="34" charset="-122"/>
                <a:cs typeface="JetBrains Mono" pitchFamily="34" charset="-120"/>
              </a:rPr>
              <a:t>(_newStatus != Status.Created, </a:t>
            </a:r>
            <a:r>
              <a:rPr lang="en-US" sz="1200" dirty="0">
                <a:solidFill>
                  <a:srgbClr val="9BCB9F"/>
                </a:solidFill>
                <a:latin typeface="JetBrains Mono" pitchFamily="34" charset="0"/>
                <a:ea typeface="JetBrains Mono" pitchFamily="34" charset="-122"/>
                <a:cs typeface="JetBrains Mono" pitchFamily="34" charset="-120"/>
              </a:rPr>
              <a:t>"Khong the quay lai..."</a:t>
            </a:r>
            <a:r>
              <a:rPr lang="en-US" sz="1200" dirty="0">
                <a:solidFill>
                  <a:srgbClr val="E6E1D6"/>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s.status = _newStatus;</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if</a:t>
            </a:r>
            <a:r>
              <a:rPr lang="en-US" sz="1200" dirty="0">
                <a:solidFill>
                  <a:srgbClr val="E6E1D6"/>
                </a:solidFill>
                <a:latin typeface="JetBrains Mono" pitchFamily="34" charset="0"/>
                <a:ea typeface="JetBrains Mono" pitchFamily="34" charset="-122"/>
                <a:cs typeface="JetBrains Mono" pitchFamily="34" charset="-120"/>
              </a:rPr>
              <a:t> (_newStatus == Status.Delivered)</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s.deliveredAt = block.timestamp; </a:t>
            </a:r>
            <a:r>
              <a:rPr lang="en-US" sz="1200" dirty="0">
                <a:solidFill>
                  <a:srgbClr val="8A97AB"/>
                </a:solidFill>
                <a:latin typeface="JetBrains Mono" pitchFamily="34" charset="0"/>
                <a:ea typeface="JetBrains Mono" pitchFamily="34" charset="-122"/>
                <a:cs typeface="JetBrains Mono" pitchFamily="34" charset="-120"/>
              </a:rPr>
              <a:t>// + ShipmentDelivered</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shipmentHistory[_id].push(StatusUpdate({ status: _newStatus,</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location: _location, note: _note, ... }));</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emit</a:t>
            </a:r>
            <a:r>
              <a:rPr lang="en-US" sz="1200" dirty="0">
                <a:solidFill>
                  <a:srgbClr val="E6E1D6"/>
                </a:solidFill>
                <a:latin typeface="JetBrains Mono" pitchFamily="34" charset="0"/>
                <a:ea typeface="JetBrains Mono" pitchFamily="34" charset="-122"/>
                <a:cs typeface="JetBrains Mono" pitchFamily="34" charset="-120"/>
              </a:rPr>
              <a:t> StatusUpdated(_id, _newStatus, _location, msg.sender);</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a:t>
            </a:r>
            <a:endParaRPr lang="en-US" sz="1200" dirty="0"/>
          </a:p>
        </p:txBody>
      </p:sp>
      <p:sp>
        <p:nvSpPr>
          <p:cNvPr id="5" name="Text 3"/>
          <p:cNvSpPr/>
          <p:nvPr/>
        </p:nvSpPr>
        <p:spPr>
          <a:xfrm>
            <a:off x="7848600" y="1643360"/>
            <a:ext cx="363651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Be Vietnam Pro" pitchFamily="34" charset="0"/>
                <a:ea typeface="Be Vietnam Pro" pitchFamily="34" charset="-122"/>
                <a:cs typeface="Be Vietnam Pro" pitchFamily="34" charset="-120"/>
              </a:rPr>
              <a:t>Ai được cập nhật?</a:t>
            </a:r>
            <a:endParaRPr lang="en-US" sz="1500" dirty="0"/>
          </a:p>
        </p:txBody>
      </p:sp>
      <p:sp>
        <p:nvSpPr>
          <p:cNvPr id="6" name="Text 4"/>
          <p:cNvSpPr/>
          <p:nvPr/>
        </p:nvSpPr>
        <p:spPr>
          <a:xfrm>
            <a:off x="7848600" y="1941810"/>
            <a:ext cx="363651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5505F"/>
                </a:solidFill>
                <a:latin typeface="Be Vietnam Pro" pitchFamily="34" charset="0"/>
                <a:ea typeface="Be Vietnam Pro" pitchFamily="34" charset="-122"/>
                <a:cs typeface="Be Vietnam Pro" pitchFamily="34" charset="-120"/>
              </a:rPr>
              <a:t>Lệnh require kiểm tra msg.sender phải là người gửi, đơn vị vận chuyển hoặc người nhận.</a:t>
            </a:r>
            <a:endParaRPr lang="en-US" sz="1200" dirty="0"/>
          </a:p>
        </p:txBody>
      </p:sp>
      <p:sp>
        <p:nvSpPr>
          <p:cNvPr id="7" name="Text 5"/>
          <p:cNvSpPr/>
          <p:nvPr/>
        </p:nvSpPr>
        <p:spPr>
          <a:xfrm>
            <a:off x="7848600" y="2612330"/>
            <a:ext cx="363651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Be Vietnam Pro" pitchFamily="34" charset="0"/>
                <a:ea typeface="Be Vietnam Pro" pitchFamily="34" charset="-122"/>
                <a:cs typeface="Be Vietnam Pro" pitchFamily="34" charset="-120"/>
              </a:rPr>
              <a:t>Mỗi chặng là một dòng lịch sử</a:t>
            </a:r>
            <a:endParaRPr lang="en-US" sz="1500" dirty="0"/>
          </a:p>
        </p:txBody>
      </p:sp>
      <p:sp>
        <p:nvSpPr>
          <p:cNvPr id="8" name="Text 6"/>
          <p:cNvSpPr/>
          <p:nvPr/>
        </p:nvSpPr>
        <p:spPr>
          <a:xfrm>
            <a:off x="7848600" y="2910780"/>
            <a:ext cx="363651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5505F"/>
                </a:solidFill>
                <a:latin typeface="Be Vietnam Pro" pitchFamily="34" charset="0"/>
                <a:ea typeface="Be Vietnam Pro" pitchFamily="34" charset="-122"/>
                <a:cs typeface="Be Vietnam Pro" pitchFamily="34" charset="-120"/>
              </a:rPr>
              <a:t>Ví dụ bản ghi sau chặng Đà Nẵng:</a:t>
            </a:r>
            <a:endParaRPr lang="en-US" sz="1200" dirty="0"/>
          </a:p>
        </p:txBody>
      </p:sp>
      <p:sp>
        <p:nvSpPr>
          <p:cNvPr id="9" name="Shape 7"/>
          <p:cNvSpPr/>
          <p:nvPr/>
        </p:nvSpPr>
        <p:spPr>
          <a:xfrm>
            <a:off x="7851775" y="3363516"/>
            <a:ext cx="3524250" cy="1194991"/>
          </a:xfrm>
          <a:prstGeom prst="roundRect">
            <a:avLst>
              <a:gd name="adj" fmla="val 6111"/>
            </a:avLst>
          </a:prstGeom>
          <a:solidFill>
            <a:srgbClr val="FFFCF5"/>
          </a:solidFill>
          <a:ln w="6350">
            <a:solidFill>
              <a:srgbClr val="E2DCCD"/>
            </a:solidFill>
            <a:prstDash val="solid"/>
          </a:ln>
        </p:spPr>
      </p:sp>
      <p:sp>
        <p:nvSpPr>
          <p:cNvPr id="10" name="Text 8"/>
          <p:cNvSpPr/>
          <p:nvPr/>
        </p:nvSpPr>
        <p:spPr>
          <a:xfrm>
            <a:off x="8032750" y="3519091"/>
            <a:ext cx="3257169"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4213D"/>
                </a:solidFill>
                <a:latin typeface="JetBrains Mono" pitchFamily="34" charset="0"/>
                <a:ea typeface="JetBrains Mono" pitchFamily="34" charset="-122"/>
                <a:cs typeface="JetBrains Mono" pitchFamily="34" charset="-120"/>
              </a:rPr>
              <a:t>status: InTransit</a:t>
            </a:r>
            <a:endParaRPr lang="en-US" sz="1200" dirty="0"/>
          </a:p>
          <a:p>
            <a:pPr algn="l" indent="0" marL="0">
              <a:lnSpc>
                <a:spcPts val="1740"/>
              </a:lnSpc>
              <a:buNone/>
            </a:pPr>
            <a:r>
              <a:rPr lang="en-US" sz="1200" dirty="0">
                <a:solidFill>
                  <a:srgbClr val="14213D"/>
                </a:solidFill>
                <a:latin typeface="JetBrains Mono" pitchFamily="34" charset="0"/>
                <a:ea typeface="JetBrains Mono" pitchFamily="34" charset="-122"/>
                <a:cs typeface="JetBrains Mono" pitchFamily="34" charset="-120"/>
              </a:rPr>
              <a:t>location: "Da Nang"</a:t>
            </a:r>
            <a:endParaRPr lang="en-US" sz="1200" dirty="0"/>
          </a:p>
          <a:p>
            <a:pPr algn="l" indent="0" marL="0">
              <a:lnSpc>
                <a:spcPts val="1740"/>
              </a:lnSpc>
              <a:buNone/>
            </a:pPr>
            <a:r>
              <a:rPr lang="en-US" sz="1200" dirty="0">
                <a:solidFill>
                  <a:srgbClr val="14213D"/>
                </a:solidFill>
                <a:latin typeface="JetBrains Mono" pitchFamily="34" charset="0"/>
                <a:ea typeface="JetBrains Mono" pitchFamily="34" charset="-122"/>
                <a:cs typeface="JetBrains Mono" pitchFamily="34" charset="-120"/>
              </a:rPr>
              <a:t>note: "In transit"</a:t>
            </a:r>
            <a:endParaRPr lang="en-US" sz="1200" dirty="0"/>
          </a:p>
          <a:p>
            <a:pPr algn="l" indent="0" marL="0">
              <a:lnSpc>
                <a:spcPts val="1740"/>
              </a:lnSpc>
              <a:buNone/>
            </a:pPr>
            <a:r>
              <a:rPr lang="en-US" sz="1200" dirty="0">
                <a:solidFill>
                  <a:srgbClr val="14213D"/>
                </a:solidFill>
                <a:latin typeface="JetBrains Mono" pitchFamily="34" charset="0"/>
                <a:ea typeface="JetBrains Mono" pitchFamily="34" charset="-122"/>
                <a:cs typeface="JetBrains Mono" pitchFamily="34" charset="-120"/>
              </a:rPr>
              <a:t>updatedBy: ví Carrier</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Be Vietnam Pro" pitchFamily="34" charset="0"/>
                <a:ea typeface="Be Vietnam Pro" pitchFamily="34" charset="-122"/>
                <a:cs typeface="Be Vietnam Pro" pitchFamily="34" charset="-120"/>
              </a:rPr>
              <a:t>08 · Theo dõi lô hàng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spc="-50" kern="0" dirty="0">
                <a:solidFill>
                  <a:srgbClr val="0E1A2B"/>
                </a:solidFill>
                <a:latin typeface="Be Vietnam Pro" pitchFamily="34" charset="0"/>
                <a:ea typeface="Be Vietnam Pro" pitchFamily="34" charset="-122"/>
                <a:cs typeface="Be Vietnam Pro" pitchFamily="34" charset="-120"/>
              </a:rPr>
              <a:t>Quy tắc được thực thi trên chuỗi</a:t>
            </a:r>
            <a:endParaRPr lang="en-US" sz="3600" dirty="0"/>
          </a:p>
        </p:txBody>
      </p:sp>
      <p:sp>
        <p:nvSpPr>
          <p:cNvPr id="3" name="Shape 1"/>
          <p:cNvSpPr/>
          <p:nvPr/>
        </p:nvSpPr>
        <p:spPr>
          <a:xfrm>
            <a:off x="812800" y="1643360"/>
            <a:ext cx="10566400" cy="3611761"/>
          </a:xfrm>
          <a:prstGeom prst="roundRect">
            <a:avLst>
              <a:gd name="adj" fmla="val 2813"/>
            </a:avLst>
          </a:prstGeom>
          <a:solidFill>
            <a:srgbClr val="FFFCF5"/>
          </a:solidFill>
          <a:ln/>
        </p:spPr>
      </p:sp>
      <p:sp>
        <p:nvSpPr>
          <p:cNvPr id="4" name="Shape 2"/>
          <p:cNvSpPr/>
          <p:nvPr/>
        </p:nvSpPr>
        <p:spPr>
          <a:xfrm>
            <a:off x="812800" y="1643360"/>
            <a:ext cx="10566400" cy="3611761"/>
          </a:xfrm>
          <a:custGeom>
            <a:avLst/>
            <a:gdLst/>
            <a:ahLst/>
            <a:cxnLst/>
            <a:rect l="l" t="t" r="r" b="b"/>
            <a:pathLst>
              <a:path w="10566400" h="3611761">
                <a:moveTo>
                  <a:pt x="10464800" y="0"/>
                </a:moveTo>
                <a:lnTo>
                  <a:pt x="10464800" y="0"/>
                </a:lnTo>
                <a:arcTo hR="101600" wR="101600" stAng="16200000" swAng="5400000"/>
                <a:lnTo>
                  <a:pt x="10566400" y="3510161"/>
                </a:lnTo>
                <a:arcTo hR="101600" wR="101600" stAng="0" swAng="5400000"/>
                <a:lnTo>
                  <a:pt x="101600" y="3611761"/>
                </a:lnTo>
                <a:arcTo hR="101600" wR="101600" stAng="5400000" swAng="5400000"/>
                <a:lnTo>
                  <a:pt x="0" y="3510161"/>
                </a:lnTo>
                <a:arcTo hR="95250" wR="101600" stAng="10800000" swAng="-5400000"/>
                <a:lnTo>
                  <a:pt x="10464800" y="3605411"/>
                </a:lnTo>
                <a:arcTo hR="95250" wR="95250" stAng="5400000" swAng="-5400000"/>
                <a:lnTo>
                  <a:pt x="10560050" y="101600"/>
                </a:lnTo>
                <a:arcTo hR="101600" wR="95250" stAng="0" swAng="-5400000"/>
                <a:close/>
              </a:path>
            </a:pathLst>
          </a:custGeom>
          <a:solidFill>
            <a:srgbClr val="E2DCCD"/>
          </a:solidFill>
          <a:ln/>
        </p:spPr>
      </p:sp>
      <p:sp>
        <p:nvSpPr>
          <p:cNvPr id="5" name="Shape 3"/>
          <p:cNvSpPr/>
          <p:nvPr/>
        </p:nvSpPr>
        <p:spPr>
          <a:xfrm>
            <a:off x="812800" y="1643360"/>
            <a:ext cx="10566400" cy="3611761"/>
          </a:xfrm>
          <a:custGeom>
            <a:avLst/>
            <a:gdLst/>
            <a:ahLst/>
            <a:cxnLst/>
            <a:rect l="l" t="t" r="r" b="b"/>
            <a:pathLst>
              <a:path w="10566400" h="3611761">
                <a:moveTo>
                  <a:pt x="101600" y="3611761"/>
                </a:moveTo>
                <a:lnTo>
                  <a:pt x="101600" y="3611761"/>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3510161"/>
                </a:lnTo>
                <a:arcTo hR="101600" wR="889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656060"/>
          <a:ext cx="10547350" cy="3592711"/>
        </p:xfrm>
        <a:graphic>
          <a:graphicData uri="http://schemas.openxmlformats.org/drawingml/2006/table">
            <a:tbl>
              <a:tblPr/>
              <a:tblGrid>
                <a:gridCol w="5801043"/>
                <a:gridCol w="4746308"/>
              </a:tblGrid>
              <a:tr h="359271">
                <a:tc>
                  <a:txBody>
                    <a:bodyPr/>
                    <a:lstStyle/>
                    <a:p>
                      <a:pPr indent="0" marL="0">
                        <a:lnSpc>
                          <a:spcPts val="1820"/>
                        </a:lnSpc>
                        <a:buNone/>
                      </a:pPr>
                      <a:r>
                        <a:rPr lang="en-US" sz="1300" b="1" dirty="0">
                          <a:solidFill>
                            <a:srgbClr val="F5F2EA"/>
                          </a:solidFill>
                          <a:latin typeface="Be Vietnam Pro" pitchFamily="34" charset="0"/>
                          <a:ea typeface="Be Vietnam Pro" pitchFamily="34" charset="-122"/>
                          <a:cs typeface="Be Vietnam Pro" pitchFamily="34" charset="-120"/>
                        </a:rPr>
                        <a:t>Tình huống</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0F1926"/>
                      </a:solidFill>
                      <a:prstDash val="solid"/>
                      <a:round/>
                      <a:headEnd type="none" w="med" len="med"/>
                      <a:tailEnd type="none" w="med" len="med"/>
                    </a:lnR>
                    <a:lnT w="0" cap="flat" cmpd="sng" algn="ctr">
                      <a:noFill/>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820"/>
                        </a:lnSpc>
                        <a:buNone/>
                      </a:pPr>
                      <a:r>
                        <a:rPr lang="en-US" sz="1300" b="1" dirty="0">
                          <a:solidFill>
                            <a:srgbClr val="F5F2EA"/>
                          </a:solidFill>
                          <a:latin typeface="Be Vietnam Pro" pitchFamily="34" charset="0"/>
                          <a:ea typeface="Be Vietnam Pro" pitchFamily="34" charset="-122"/>
                          <a:cs typeface="Be Vietnam Pro" pitchFamily="34" charset="-120"/>
                        </a:rPr>
                        <a:t>Giao dịch bị hoàn tác với thông báo</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0" cap="flat" cmpd="sng" algn="ctr">
                      <a:noFill/>
                    </a:lnT>
                    <a:lnB w="12700" cap="flat" cmpd="sng" algn="ctr">
                      <a:solidFill>
                        <a:srgbClr val="0F1926"/>
                      </a:solidFill>
                      <a:prstDash val="solid"/>
                      <a:round/>
                      <a:headEnd type="none" w="med" len="med"/>
                      <a:tailEnd type="none" w="med" len="med"/>
                    </a:lnB>
                    <a:solidFill>
                      <a:srgbClr val="0E1A2B"/>
                    </a:solidFill>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Ví không liên quan cập nhật đơn hàng</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7A4100"/>
                          </a:solidFill>
                          <a:latin typeface="Be Vietnam Pro" pitchFamily="34" charset="0"/>
                          <a:ea typeface="Be Vietnam Pro" pitchFamily="34" charset="-122"/>
                          <a:cs typeface="Be Vietnam Pro" pitchFamily="34" charset="-120"/>
                        </a:rPr>
                        <a:t>Bạn không liên quan đến đơn hàng này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Cập nhật đơn hàng đã giao</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7A4100"/>
                          </a:solidFill>
                          <a:latin typeface="Be Vietnam Pro" pitchFamily="34" charset="0"/>
                          <a:ea typeface="Be Vietnam Pro" pitchFamily="34" charset="-122"/>
                          <a:cs typeface="Be Vietnam Pro" pitchFamily="34" charset="-120"/>
                        </a:rPr>
                        <a:t>Đơn hàng đã giao, không thể cập nhật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Cập nhật đơn hàng đã hủy</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7A4100"/>
                          </a:solidFill>
                          <a:latin typeface="Be Vietnam Pro" pitchFamily="34" charset="0"/>
                          <a:ea typeface="Be Vietnam Pro" pitchFamily="34" charset="-122"/>
                          <a:cs typeface="Be Vietnam Pro" pitchFamily="34" charset="-120"/>
                        </a:rPr>
                        <a:t>Đơn hàng đã bị hủy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Quay lại trạng thái Created</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7A4100"/>
                          </a:solidFill>
                          <a:latin typeface="Be Vietnam Pro" pitchFamily="34" charset="0"/>
                          <a:ea typeface="Be Vietnam Pro" pitchFamily="34" charset="-122"/>
                          <a:cs typeface="Be Vietnam Pro" pitchFamily="34" charset="-120"/>
                        </a:rPr>
                        <a:t>Không thể quay lại trạng thái Created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Người không phải người gửi hủy đơn</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7A4100"/>
                          </a:solidFill>
                          <a:latin typeface="Be Vietnam Pro" pitchFamily="34" charset="0"/>
                          <a:ea typeface="Be Vietnam Pro" pitchFamily="34" charset="-122"/>
                          <a:cs typeface="Be Vietnam Pro" pitchFamily="34" charset="-120"/>
                        </a:rPr>
                        <a:t>Chỉ người gửi mới được hủy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Hủy khi hàng đang vận chuyển</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7A4100"/>
                          </a:solidFill>
                          <a:latin typeface="Be Vietnam Pro" pitchFamily="34" charset="0"/>
                          <a:ea typeface="Be Vietnam Pro" pitchFamily="34" charset="-122"/>
                          <a:cs typeface="Be Vietnam Pro" pitchFamily="34" charset="-120"/>
                        </a:rPr>
                        <a:t>Không thể hủy ở giai đoạn này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Đơn vị vận chuyển hoặc người nhận là địa chỉ 0</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7A4100"/>
                          </a:solidFill>
                          <a:latin typeface="Be Vietnam Pro" pitchFamily="34" charset="0"/>
                          <a:ea typeface="Be Vietnam Pro" pitchFamily="34" charset="-122"/>
                          <a:cs typeface="Be Vietnam Pro" pitchFamily="34" charset="-120"/>
                        </a:rPr>
                        <a:t>Địa chỉ không hợp lệ</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Tra cứu hoặc cập nhật mã đơn không tồn tại</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7A4100"/>
                          </a:solidFill>
                          <a:latin typeface="Be Vietnam Pro" pitchFamily="34" charset="0"/>
                          <a:ea typeface="Be Vietnam Pro" pitchFamily="34" charset="-122"/>
                          <a:cs typeface="Be Vietnam Pro" pitchFamily="34" charset="-120"/>
                        </a:rPr>
                        <a:t>Lô hàng không tồn tại</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Ví không phải owner duyệt đơn vị vận chuyển</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7A4100"/>
                          </a:solidFill>
                          <a:latin typeface="Be Vietnam Pro" pitchFamily="34" charset="0"/>
                          <a:ea typeface="Be Vietnam Pro" pitchFamily="34" charset="-122"/>
                          <a:cs typeface="Be Vietnam Pro" pitchFamily="34" charset="-120"/>
                        </a:rPr>
                        <a:t>Chỉ owner mới được gọi</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bl>
          </a:graphicData>
        </a:graphic>
      </p:graphicFrame>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Be Vietnam Pro" pitchFamily="34" charset="0"/>
                <a:ea typeface="Be Vietnam Pro" pitchFamily="34" charset="-122"/>
                <a:cs typeface="Be Vietnam Pro" pitchFamily="34" charset="-120"/>
              </a:rPr>
              <a:t>09 · Theo dõi lô hàng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812800" y="2095500"/>
            <a:ext cx="10566400" cy="901700"/>
          </a:xfrm>
          <a:prstGeom prst="roundRect">
            <a:avLst>
              <a:gd name="adj" fmla="val 8451"/>
            </a:avLst>
          </a:prstGeom>
          <a:solidFill>
            <a:srgbClr val="ECE6D8"/>
          </a:solidFill>
          <a:ln/>
        </p:spPr>
      </p:sp>
      <p:sp>
        <p:nvSpPr>
          <p:cNvPr id="3" name="Shape 1"/>
          <p:cNvSpPr/>
          <p:nvPr/>
        </p:nvSpPr>
        <p:spPr>
          <a:xfrm>
            <a:off x="812800" y="3898900"/>
            <a:ext cx="10566400" cy="1295400"/>
          </a:xfrm>
          <a:prstGeom prst="roundRect">
            <a:avLst>
              <a:gd name="adj" fmla="val 5882"/>
            </a:avLst>
          </a:prstGeom>
          <a:solidFill>
            <a:srgbClr val="ECE6D8"/>
          </a:solidFill>
          <a:ln/>
        </p:spPr>
      </p:sp>
      <p:sp>
        <p:nvSpPr>
          <p:cNvPr id="4" name="Text 2"/>
          <p:cNvSpPr/>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spc="-50" kern="0" dirty="0">
                <a:solidFill>
                  <a:srgbClr val="0E1A2B"/>
                </a:solidFill>
                <a:latin typeface="Be Vietnam Pro" pitchFamily="34" charset="0"/>
                <a:ea typeface="Be Vietnam Pro" pitchFamily="34" charset="-122"/>
                <a:cs typeface="Be Vietnam Pro" pitchFamily="34" charset="-120"/>
              </a:rPr>
              <a:t>Sơ đồ tuần tự: theo dõi lô hàng</a:t>
            </a:r>
            <a:endParaRPr lang="en-US" sz="3600" dirty="0"/>
          </a:p>
        </p:txBody>
      </p:sp>
      <p:pic>
        <p:nvPicPr>
          <p:cNvPr id="5" name="Image 0" descr="line">    </p:cNvPr>
          <p:cNvPicPr>
            <a:picLocks noChangeAspect="1"/>
          </p:cNvPicPr>
          <p:nvPr/>
        </p:nvPicPr>
        <p:blipFill>
          <a:blip r:embed="rId1"/>
          <a:srcRect l="0" r="0" t="0" b="0"/>
          <a:stretch/>
        </p:blipFill>
        <p:spPr>
          <a:xfrm>
            <a:off x="9652000" y="920750"/>
            <a:ext cx="355600" cy="38100"/>
          </a:xfrm>
          <a:prstGeom prst="rect">
            <a:avLst/>
          </a:prstGeom>
        </p:spPr>
      </p:pic>
      <p:sp>
        <p:nvSpPr>
          <p:cNvPr id="6" name="Text 3"/>
          <p:cNvSpPr/>
          <p:nvPr/>
        </p:nvSpPr>
        <p:spPr>
          <a:xfrm>
            <a:off x="10109200" y="8128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gọi hàm</a:t>
            </a:r>
            <a:endParaRPr lang="en-US" sz="1200" dirty="0"/>
          </a:p>
        </p:txBody>
      </p:sp>
      <p:pic>
        <p:nvPicPr>
          <p:cNvPr id="7" name="Image 1" descr="line">    </p:cNvPr>
          <p:cNvPicPr>
            <a:picLocks noChangeAspect="1"/>
          </p:cNvPicPr>
          <p:nvPr/>
        </p:nvPicPr>
        <p:blipFill>
          <a:blip r:embed="rId2"/>
          <a:srcRect l="0" r="0" t="0" b="0"/>
          <a:stretch/>
        </p:blipFill>
        <p:spPr>
          <a:xfrm>
            <a:off x="9652000" y="1136650"/>
            <a:ext cx="355600" cy="38100"/>
          </a:xfrm>
          <a:prstGeom prst="rect">
            <a:avLst/>
          </a:prstGeom>
        </p:spPr>
      </p:pic>
      <p:sp>
        <p:nvSpPr>
          <p:cNvPr id="8" name="Text 4"/>
          <p:cNvSpPr/>
          <p:nvPr/>
        </p:nvSpPr>
        <p:spPr>
          <a:xfrm>
            <a:off x="10109200" y="10287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phát event</a:t>
            </a:r>
            <a:endParaRPr lang="en-US" sz="1200" dirty="0"/>
          </a:p>
        </p:txBody>
      </p:sp>
      <p:pic>
        <p:nvPicPr>
          <p:cNvPr id="9" name="Image 2" descr="line">    </p:cNvPr>
          <p:cNvPicPr>
            <a:picLocks noChangeAspect="1"/>
          </p:cNvPicPr>
          <p:nvPr/>
        </p:nvPicPr>
        <p:blipFill>
          <a:blip r:embed="rId3"/>
          <a:srcRect l="0" r="0" t="0" b="0"/>
          <a:stretch/>
        </p:blipFill>
        <p:spPr>
          <a:xfrm>
            <a:off x="9652000" y="1352550"/>
            <a:ext cx="355600" cy="38100"/>
          </a:xfrm>
          <a:prstGeom prst="rect">
            <a:avLst/>
          </a:prstGeom>
        </p:spPr>
      </p:pic>
      <p:sp>
        <p:nvSpPr>
          <p:cNvPr id="10" name="Text 5"/>
          <p:cNvSpPr/>
          <p:nvPr/>
        </p:nvSpPr>
        <p:spPr>
          <a:xfrm>
            <a:off x="10109200" y="12446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trả kết quả</a:t>
            </a:r>
            <a:endParaRPr lang="en-US" sz="1200" dirty="0"/>
          </a:p>
        </p:txBody>
      </p:sp>
      <p:pic>
        <p:nvPicPr>
          <p:cNvPr id="11" name="Image 3" descr="connector">    </p:cNvPr>
          <p:cNvPicPr>
            <a:picLocks noChangeAspect="1"/>
          </p:cNvPicPr>
          <p:nvPr/>
        </p:nvPicPr>
        <p:blipFill>
          <a:blip r:embed="rId4"/>
          <a:srcRect l="0" r="0" t="0" b="0"/>
          <a:stretch/>
        </p:blipFill>
        <p:spPr>
          <a:xfrm>
            <a:off x="2628900" y="1993900"/>
            <a:ext cx="76200" cy="3860800"/>
          </a:xfrm>
          <a:prstGeom prst="rect">
            <a:avLst/>
          </a:prstGeom>
        </p:spPr>
      </p:pic>
      <p:pic>
        <p:nvPicPr>
          <p:cNvPr id="12" name="Image 4" descr="connector">    </p:cNvPr>
          <p:cNvPicPr>
            <a:picLocks noChangeAspect="1"/>
          </p:cNvPicPr>
          <p:nvPr/>
        </p:nvPicPr>
        <p:blipFill>
          <a:blip r:embed="rId5"/>
          <a:srcRect l="0" r="0" t="0" b="0"/>
          <a:stretch/>
        </p:blipFill>
        <p:spPr>
          <a:xfrm>
            <a:off x="4279900" y="1993900"/>
            <a:ext cx="76200" cy="3860800"/>
          </a:xfrm>
          <a:prstGeom prst="rect">
            <a:avLst/>
          </a:prstGeom>
        </p:spPr>
      </p:pic>
      <p:pic>
        <p:nvPicPr>
          <p:cNvPr id="13" name="Image 5" descr="connector">    </p:cNvPr>
          <p:cNvPicPr>
            <a:picLocks noChangeAspect="1"/>
          </p:cNvPicPr>
          <p:nvPr/>
        </p:nvPicPr>
        <p:blipFill>
          <a:blip r:embed="rId6"/>
          <a:srcRect l="0" r="0" t="0" b="0"/>
          <a:stretch/>
        </p:blipFill>
        <p:spPr>
          <a:xfrm>
            <a:off x="6934200" y="1981200"/>
            <a:ext cx="101600" cy="3886200"/>
          </a:xfrm>
          <a:prstGeom prst="rect">
            <a:avLst/>
          </a:prstGeom>
        </p:spPr>
      </p:pic>
      <p:pic>
        <p:nvPicPr>
          <p:cNvPr id="14" name="Image 6" descr="connector">    </p:cNvPr>
          <p:cNvPicPr>
            <a:picLocks noChangeAspect="1"/>
          </p:cNvPicPr>
          <p:nvPr/>
        </p:nvPicPr>
        <p:blipFill>
          <a:blip r:embed="rId7"/>
          <a:srcRect l="0" r="0" t="0" b="0"/>
          <a:stretch/>
        </p:blipFill>
        <p:spPr>
          <a:xfrm>
            <a:off x="8978900" y="1993900"/>
            <a:ext cx="76200" cy="3860800"/>
          </a:xfrm>
          <a:prstGeom prst="rect">
            <a:avLst/>
          </a:prstGeom>
        </p:spPr>
      </p:pic>
      <p:pic>
        <p:nvPicPr>
          <p:cNvPr id="15" name="Image 7" descr="connector">    </p:cNvPr>
          <p:cNvPicPr>
            <a:picLocks noChangeAspect="1"/>
          </p:cNvPicPr>
          <p:nvPr/>
        </p:nvPicPr>
        <p:blipFill>
          <a:blip r:embed="rId8"/>
          <a:srcRect l="0" r="0" t="0" b="0"/>
          <a:stretch/>
        </p:blipFill>
        <p:spPr>
          <a:xfrm>
            <a:off x="10629900" y="1993900"/>
            <a:ext cx="76200" cy="3860800"/>
          </a:xfrm>
          <a:prstGeom prst="rect">
            <a:avLst/>
          </a:prstGeom>
        </p:spPr>
      </p:pic>
      <p:sp>
        <p:nvSpPr>
          <p:cNvPr id="16" name="Shape 6"/>
          <p:cNvSpPr/>
          <p:nvPr/>
        </p:nvSpPr>
        <p:spPr>
          <a:xfrm>
            <a:off x="2038350" y="1504950"/>
            <a:ext cx="1257300" cy="520700"/>
          </a:xfrm>
          <a:prstGeom prst="roundRect">
            <a:avLst>
              <a:gd name="adj" fmla="val 13415"/>
            </a:avLst>
          </a:prstGeom>
          <a:solidFill>
            <a:srgbClr val="FFFCF5"/>
          </a:solidFill>
          <a:ln w="12700">
            <a:solidFill>
              <a:srgbClr val="2F5FD0"/>
            </a:solidFill>
            <a:prstDash val="solid"/>
          </a:ln>
        </p:spPr>
      </p:sp>
      <p:sp>
        <p:nvSpPr>
          <p:cNvPr id="17" name="Text 7"/>
          <p:cNvSpPr/>
          <p:nvPr/>
        </p:nvSpPr>
        <p:spPr>
          <a:xfrm>
            <a:off x="2306241" y="1551980"/>
            <a:ext cx="7723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Người gửi</a:t>
            </a:r>
            <a:endParaRPr lang="en-US" sz="1200" dirty="0"/>
          </a:p>
        </p:txBody>
      </p:sp>
      <p:sp>
        <p:nvSpPr>
          <p:cNvPr id="18" name="Text 8"/>
          <p:cNvSpPr/>
          <p:nvPr/>
        </p:nvSpPr>
        <p:spPr>
          <a:xfrm>
            <a:off x="2404070" y="1765300"/>
            <a:ext cx="5766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Sender</a:t>
            </a:r>
            <a:endParaRPr lang="en-US" sz="1200" dirty="0"/>
          </a:p>
        </p:txBody>
      </p:sp>
      <p:sp>
        <p:nvSpPr>
          <p:cNvPr id="19" name="Shape 9"/>
          <p:cNvSpPr/>
          <p:nvPr/>
        </p:nvSpPr>
        <p:spPr>
          <a:xfrm>
            <a:off x="3689350" y="1504950"/>
            <a:ext cx="1257300" cy="520700"/>
          </a:xfrm>
          <a:prstGeom prst="roundRect">
            <a:avLst>
              <a:gd name="adj" fmla="val 13415"/>
            </a:avLst>
          </a:prstGeom>
          <a:solidFill>
            <a:srgbClr val="FFFCF5"/>
          </a:solidFill>
          <a:ln w="12700">
            <a:solidFill>
              <a:srgbClr val="2F5FD0"/>
            </a:solidFill>
            <a:prstDash val="solid"/>
          </a:ln>
        </p:spPr>
      </p:sp>
      <p:sp>
        <p:nvSpPr>
          <p:cNvPr id="20" name="Text 10"/>
          <p:cNvSpPr/>
          <p:nvPr/>
        </p:nvSpPr>
        <p:spPr>
          <a:xfrm>
            <a:off x="3870325" y="1551980"/>
            <a:ext cx="9460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Vận chuyển</a:t>
            </a:r>
            <a:endParaRPr lang="en-US" sz="1200" dirty="0"/>
          </a:p>
        </p:txBody>
      </p:sp>
      <p:sp>
        <p:nvSpPr>
          <p:cNvPr id="21" name="Text 11"/>
          <p:cNvSpPr/>
          <p:nvPr/>
        </p:nvSpPr>
        <p:spPr>
          <a:xfrm>
            <a:off x="4053086" y="1765300"/>
            <a:ext cx="5806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Carrier</a:t>
            </a:r>
            <a:endParaRPr lang="en-US" sz="1200" dirty="0"/>
          </a:p>
        </p:txBody>
      </p:sp>
      <p:sp>
        <p:nvSpPr>
          <p:cNvPr id="22" name="Shape 12"/>
          <p:cNvSpPr/>
          <p:nvPr/>
        </p:nvSpPr>
        <p:spPr>
          <a:xfrm>
            <a:off x="6096000" y="1498600"/>
            <a:ext cx="1778000" cy="533400"/>
          </a:xfrm>
          <a:prstGeom prst="roundRect">
            <a:avLst>
              <a:gd name="adj" fmla="val 14286"/>
            </a:avLst>
          </a:prstGeom>
          <a:solidFill>
            <a:srgbClr val="0E1A2B"/>
          </a:solidFill>
          <a:ln/>
        </p:spPr>
      </p:sp>
      <p:sp>
        <p:nvSpPr>
          <p:cNvPr id="23" name="Text 13"/>
          <p:cNvSpPr/>
          <p:nvPr/>
        </p:nvSpPr>
        <p:spPr>
          <a:xfrm>
            <a:off x="6289278" y="1551980"/>
            <a:ext cx="14422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2EA"/>
                </a:solidFill>
                <a:latin typeface="Be Vietnam Pro" pitchFamily="34" charset="0"/>
                <a:ea typeface="Be Vietnam Pro" pitchFamily="34" charset="-122"/>
                <a:cs typeface="Be Vietnam Pro" pitchFamily="34" charset="-120"/>
              </a:rPr>
              <a:t>LogisticsTracking</a:t>
            </a:r>
            <a:endParaRPr lang="en-US" sz="1200" dirty="0"/>
          </a:p>
        </p:txBody>
      </p:sp>
      <p:sp>
        <p:nvSpPr>
          <p:cNvPr id="24" name="Text 14"/>
          <p:cNvSpPr/>
          <p:nvPr/>
        </p:nvSpPr>
        <p:spPr>
          <a:xfrm>
            <a:off x="6423819" y="1765300"/>
            <a:ext cx="11731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3D4"/>
                </a:solidFill>
                <a:latin typeface="Be Vietnam Pro" pitchFamily="34" charset="0"/>
                <a:ea typeface="Be Vietnam Pro" pitchFamily="34" charset="-122"/>
                <a:cs typeface="Be Vietnam Pro" pitchFamily="34" charset="-120"/>
              </a:rPr>
              <a:t>smart contract</a:t>
            </a:r>
            <a:endParaRPr lang="en-US" sz="1200" dirty="0"/>
          </a:p>
        </p:txBody>
      </p:sp>
      <p:sp>
        <p:nvSpPr>
          <p:cNvPr id="25" name="Shape 15"/>
          <p:cNvSpPr/>
          <p:nvPr/>
        </p:nvSpPr>
        <p:spPr>
          <a:xfrm>
            <a:off x="8324850" y="1504950"/>
            <a:ext cx="1384300" cy="520700"/>
          </a:xfrm>
          <a:prstGeom prst="roundRect">
            <a:avLst>
              <a:gd name="adj" fmla="val 13415"/>
            </a:avLst>
          </a:prstGeom>
          <a:solidFill>
            <a:srgbClr val="FBEBD2"/>
          </a:solidFill>
          <a:ln w="12700">
            <a:solidFill>
              <a:srgbClr val="9A5200"/>
            </a:solidFill>
            <a:prstDash val="solid"/>
          </a:ln>
        </p:spPr>
      </p:sp>
      <p:sp>
        <p:nvSpPr>
          <p:cNvPr id="26" name="Text 16"/>
          <p:cNvSpPr/>
          <p:nvPr/>
        </p:nvSpPr>
        <p:spPr>
          <a:xfrm>
            <a:off x="8660805" y="1551980"/>
            <a:ext cx="7631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4100"/>
                </a:solidFill>
                <a:latin typeface="Be Vietnam Pro" pitchFamily="34" charset="0"/>
                <a:ea typeface="Be Vietnam Pro" pitchFamily="34" charset="-122"/>
                <a:cs typeface="Be Vietnam Pro" pitchFamily="34" charset="-120"/>
              </a:rPr>
              <a:t>Event log</a:t>
            </a:r>
            <a:endParaRPr lang="en-US" sz="1200" dirty="0"/>
          </a:p>
        </p:txBody>
      </p:sp>
      <p:sp>
        <p:nvSpPr>
          <p:cNvPr id="27" name="Text 17"/>
          <p:cNvSpPr/>
          <p:nvPr/>
        </p:nvSpPr>
        <p:spPr>
          <a:xfrm>
            <a:off x="8432205" y="1765300"/>
            <a:ext cx="12203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4100"/>
                </a:solidFill>
                <a:latin typeface="Be Vietnam Pro" pitchFamily="34" charset="0"/>
                <a:ea typeface="Be Vietnam Pro" pitchFamily="34" charset="-122"/>
                <a:cs typeface="Be Vietnam Pro" pitchFamily="34" charset="-120"/>
              </a:rPr>
              <a:t>dApp lắng nghe</a:t>
            </a:r>
            <a:endParaRPr lang="en-US" sz="1200" dirty="0"/>
          </a:p>
        </p:txBody>
      </p:sp>
      <p:sp>
        <p:nvSpPr>
          <p:cNvPr id="28" name="Shape 18"/>
          <p:cNvSpPr/>
          <p:nvPr/>
        </p:nvSpPr>
        <p:spPr>
          <a:xfrm>
            <a:off x="10039350" y="1504950"/>
            <a:ext cx="1257300" cy="520700"/>
          </a:xfrm>
          <a:prstGeom prst="roundRect">
            <a:avLst>
              <a:gd name="adj" fmla="val 13415"/>
            </a:avLst>
          </a:prstGeom>
          <a:solidFill>
            <a:srgbClr val="FFFCF5"/>
          </a:solidFill>
          <a:ln w="12700">
            <a:solidFill>
              <a:srgbClr val="2F5FD0"/>
            </a:solidFill>
            <a:prstDash val="solid"/>
          </a:ln>
        </p:spPr>
      </p:sp>
      <p:sp>
        <p:nvSpPr>
          <p:cNvPr id="29" name="Text 19"/>
          <p:cNvSpPr/>
          <p:nvPr/>
        </p:nvSpPr>
        <p:spPr>
          <a:xfrm>
            <a:off x="10237788" y="1551980"/>
            <a:ext cx="9111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Người nhận</a:t>
            </a:r>
            <a:endParaRPr lang="en-US" sz="1200" dirty="0"/>
          </a:p>
        </p:txBody>
      </p:sp>
      <p:sp>
        <p:nvSpPr>
          <p:cNvPr id="30" name="Text 20"/>
          <p:cNvSpPr/>
          <p:nvPr/>
        </p:nvSpPr>
        <p:spPr>
          <a:xfrm>
            <a:off x="10345241" y="1765300"/>
            <a:ext cx="6962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Receiver</a:t>
            </a:r>
            <a:endParaRPr lang="en-US" sz="1200" dirty="0"/>
          </a:p>
        </p:txBody>
      </p:sp>
      <p:sp>
        <p:nvSpPr>
          <p:cNvPr id="31" name="Text 21"/>
          <p:cNvSpPr/>
          <p:nvPr/>
        </p:nvSpPr>
        <p:spPr>
          <a:xfrm>
            <a:off x="812800" y="2171700"/>
            <a:ext cx="1130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5505F"/>
                </a:solidFill>
                <a:latin typeface="Be Vietnam Pro" pitchFamily="34" charset="0"/>
                <a:ea typeface="Be Vietnam Pro" pitchFamily="34" charset="-122"/>
                <a:cs typeface="Be Vietnam Pro" pitchFamily="34" charset="-120"/>
              </a:rPr>
              <a:t>Tạo đơn</a:t>
            </a:r>
            <a:endParaRPr lang="en-US" sz="1200" dirty="0"/>
          </a:p>
        </p:txBody>
      </p:sp>
      <p:sp>
        <p:nvSpPr>
          <p:cNvPr id="32" name="Text 22"/>
          <p:cNvSpPr/>
          <p:nvPr/>
        </p:nvSpPr>
        <p:spPr>
          <a:xfrm>
            <a:off x="812800" y="3086100"/>
            <a:ext cx="1130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5505F"/>
                </a:solidFill>
                <a:latin typeface="Be Vietnam Pro" pitchFamily="34" charset="0"/>
                <a:ea typeface="Be Vietnam Pro" pitchFamily="34" charset="-122"/>
                <a:cs typeface="Be Vietnam Pro" pitchFamily="34" charset="-120"/>
              </a:rPr>
              <a:t>Vận chuyển</a:t>
            </a:r>
            <a:endParaRPr lang="en-US" sz="1200" dirty="0"/>
          </a:p>
        </p:txBody>
      </p:sp>
      <p:sp>
        <p:nvSpPr>
          <p:cNvPr id="33" name="Text 23"/>
          <p:cNvSpPr/>
          <p:nvPr/>
        </p:nvSpPr>
        <p:spPr>
          <a:xfrm>
            <a:off x="812800" y="3975100"/>
            <a:ext cx="11303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5505F"/>
                </a:solidFill>
                <a:latin typeface="Be Vietnam Pro" pitchFamily="34" charset="0"/>
                <a:ea typeface="Be Vietnam Pro" pitchFamily="34" charset="-122"/>
                <a:cs typeface="Be Vietnam Pro" pitchFamily="34" charset="-120"/>
              </a:rPr>
              <a:t>Giao và tra cứu</a:t>
            </a:r>
            <a:endParaRPr lang="en-US" sz="1200" dirty="0"/>
          </a:p>
        </p:txBody>
      </p:sp>
      <p:sp>
        <p:nvSpPr>
          <p:cNvPr id="34" name="Text 24"/>
          <p:cNvSpPr/>
          <p:nvPr/>
        </p:nvSpPr>
        <p:spPr>
          <a:xfrm>
            <a:off x="812800" y="5270500"/>
            <a:ext cx="11303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4100"/>
                </a:solidFill>
                <a:latin typeface="Be Vietnam Pro" pitchFamily="34" charset="0"/>
                <a:ea typeface="Be Vietnam Pro" pitchFamily="34" charset="-122"/>
                <a:cs typeface="Be Vietnam Pro" pitchFamily="34" charset="-120"/>
              </a:rPr>
              <a:t>Ngoại lệ: hủy đơn</a:t>
            </a:r>
            <a:endParaRPr lang="en-US" sz="1200" dirty="0"/>
          </a:p>
        </p:txBody>
      </p:sp>
      <p:pic>
        <p:nvPicPr>
          <p:cNvPr id="35" name="Image 8" descr="connector">    </p:cNvPr>
          <p:cNvPicPr>
            <a:picLocks noChangeAspect="1"/>
          </p:cNvPicPr>
          <p:nvPr/>
        </p:nvPicPr>
        <p:blipFill>
          <a:blip r:embed="rId9"/>
          <a:srcRect l="0" r="0" t="0" b="0"/>
          <a:stretch/>
        </p:blipFill>
        <p:spPr>
          <a:xfrm>
            <a:off x="2616200" y="2311400"/>
            <a:ext cx="4419600" cy="101600"/>
          </a:xfrm>
          <a:prstGeom prst="rect">
            <a:avLst/>
          </a:prstGeom>
        </p:spPr>
      </p:pic>
      <p:sp>
        <p:nvSpPr>
          <p:cNvPr id="36" name="Shape 25"/>
          <p:cNvSpPr/>
          <p:nvPr/>
        </p:nvSpPr>
        <p:spPr>
          <a:xfrm>
            <a:off x="4019550" y="2108200"/>
            <a:ext cx="1612900" cy="213320"/>
          </a:xfrm>
          <a:prstGeom prst="rect">
            <a:avLst/>
          </a:prstGeom>
          <a:solidFill>
            <a:srgbClr val="ECE6D8"/>
          </a:solidFill>
          <a:ln/>
        </p:spPr>
      </p:sp>
      <p:sp>
        <p:nvSpPr>
          <p:cNvPr id="37" name="Text 26"/>
          <p:cNvSpPr/>
          <p:nvPr/>
        </p:nvSpPr>
        <p:spPr>
          <a:xfrm>
            <a:off x="3994150" y="2108200"/>
            <a:ext cx="1663700"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2F5FD0"/>
                </a:solidFill>
                <a:latin typeface="JetBrains Mono" pitchFamily="34" charset="0"/>
                <a:ea typeface="JetBrains Mono" pitchFamily="34" charset="-122"/>
                <a:cs typeface="JetBrains Mono" pitchFamily="34" charset="-120"/>
              </a:rPr>
              <a:t>createShipment()</a:t>
            </a:r>
            <a:endParaRPr lang="en-US" sz="1200" dirty="0"/>
          </a:p>
        </p:txBody>
      </p:sp>
      <p:pic>
        <p:nvPicPr>
          <p:cNvPr id="38" name="Image 9" descr="connector">    </p:cNvPr>
          <p:cNvPicPr>
            <a:picLocks noChangeAspect="1"/>
          </p:cNvPicPr>
          <p:nvPr/>
        </p:nvPicPr>
        <p:blipFill>
          <a:blip r:embed="rId10"/>
          <a:srcRect l="0" r="0" t="0" b="0"/>
          <a:stretch/>
        </p:blipFill>
        <p:spPr>
          <a:xfrm>
            <a:off x="6934200" y="2603500"/>
            <a:ext cx="2133600" cy="101600"/>
          </a:xfrm>
          <a:prstGeom prst="rect">
            <a:avLst/>
          </a:prstGeom>
        </p:spPr>
      </p:pic>
      <p:sp>
        <p:nvSpPr>
          <p:cNvPr id="39" name="Shape 27"/>
          <p:cNvSpPr/>
          <p:nvPr/>
        </p:nvSpPr>
        <p:spPr>
          <a:xfrm>
            <a:off x="7239000" y="2400300"/>
            <a:ext cx="1524000" cy="213320"/>
          </a:xfrm>
          <a:prstGeom prst="rect">
            <a:avLst/>
          </a:prstGeom>
          <a:solidFill>
            <a:srgbClr val="ECE6D8"/>
          </a:solidFill>
          <a:ln/>
        </p:spPr>
      </p:sp>
      <p:sp>
        <p:nvSpPr>
          <p:cNvPr id="40" name="Text 28"/>
          <p:cNvSpPr/>
          <p:nvPr/>
        </p:nvSpPr>
        <p:spPr>
          <a:xfrm>
            <a:off x="7213600" y="2400300"/>
            <a:ext cx="1574800"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9A5200"/>
                </a:solidFill>
                <a:latin typeface="JetBrains Mono" pitchFamily="34" charset="0"/>
                <a:ea typeface="JetBrains Mono" pitchFamily="34" charset="-122"/>
                <a:cs typeface="JetBrains Mono" pitchFamily="34" charset="-120"/>
              </a:rPr>
              <a:t>ShipmentCreated</a:t>
            </a:r>
            <a:endParaRPr lang="en-US" sz="1200" dirty="0"/>
          </a:p>
        </p:txBody>
      </p:sp>
      <p:pic>
        <p:nvPicPr>
          <p:cNvPr id="41" name="Image 10" descr="connector">    </p:cNvPr>
          <p:cNvPicPr>
            <a:picLocks noChangeAspect="1"/>
          </p:cNvPicPr>
          <p:nvPr/>
        </p:nvPicPr>
        <p:blipFill>
          <a:blip r:embed="rId11"/>
          <a:srcRect l="0" r="0" t="0" b="0"/>
          <a:stretch/>
        </p:blipFill>
        <p:spPr>
          <a:xfrm>
            <a:off x="2628900" y="2908300"/>
            <a:ext cx="4394200" cy="76200"/>
          </a:xfrm>
          <a:prstGeom prst="rect">
            <a:avLst/>
          </a:prstGeom>
        </p:spPr>
      </p:pic>
      <p:sp>
        <p:nvSpPr>
          <p:cNvPr id="42" name="Shape 29"/>
          <p:cNvSpPr/>
          <p:nvPr/>
        </p:nvSpPr>
        <p:spPr>
          <a:xfrm>
            <a:off x="4292600" y="2692400"/>
            <a:ext cx="1066800" cy="213320"/>
          </a:xfrm>
          <a:prstGeom prst="rect">
            <a:avLst/>
          </a:prstGeom>
          <a:solidFill>
            <a:srgbClr val="ECE6D8"/>
          </a:solidFill>
          <a:ln/>
        </p:spPr>
      </p:sp>
      <p:sp>
        <p:nvSpPr>
          <p:cNvPr id="43" name="Text 30"/>
          <p:cNvSpPr/>
          <p:nvPr/>
        </p:nvSpPr>
        <p:spPr>
          <a:xfrm>
            <a:off x="4267200" y="2692400"/>
            <a:ext cx="1117600"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45505F"/>
                </a:solidFill>
                <a:latin typeface="JetBrains Mono" pitchFamily="34" charset="0"/>
                <a:ea typeface="JetBrains Mono" pitchFamily="34" charset="-122"/>
                <a:cs typeface="JetBrains Mono" pitchFamily="34" charset="-120"/>
              </a:rPr>
              <a:t>shipmentId</a:t>
            </a:r>
            <a:endParaRPr lang="en-US" sz="1200" dirty="0"/>
          </a:p>
        </p:txBody>
      </p:sp>
      <p:pic>
        <p:nvPicPr>
          <p:cNvPr id="44" name="Image 11" descr="connector">    </p:cNvPr>
          <p:cNvPicPr>
            <a:picLocks noChangeAspect="1"/>
          </p:cNvPicPr>
          <p:nvPr/>
        </p:nvPicPr>
        <p:blipFill>
          <a:blip r:embed="rId12"/>
          <a:srcRect l="0" r="0" t="0" b="0"/>
          <a:stretch/>
        </p:blipFill>
        <p:spPr>
          <a:xfrm>
            <a:off x="4267200" y="3416300"/>
            <a:ext cx="2768600" cy="101600"/>
          </a:xfrm>
          <a:prstGeom prst="rect">
            <a:avLst/>
          </a:prstGeom>
        </p:spPr>
      </p:pic>
      <p:sp>
        <p:nvSpPr>
          <p:cNvPr id="45" name="Shape 31"/>
          <p:cNvSpPr/>
          <p:nvPr/>
        </p:nvSpPr>
        <p:spPr>
          <a:xfrm>
            <a:off x="4660900" y="3009900"/>
            <a:ext cx="1981200" cy="426641"/>
          </a:xfrm>
          <a:prstGeom prst="rect">
            <a:avLst/>
          </a:prstGeom>
          <a:solidFill>
            <a:srgbClr val="F5F2EA"/>
          </a:solidFill>
          <a:ln/>
        </p:spPr>
      </p:sp>
      <p:sp>
        <p:nvSpPr>
          <p:cNvPr id="46" name="Text 32"/>
          <p:cNvSpPr/>
          <p:nvPr/>
        </p:nvSpPr>
        <p:spPr>
          <a:xfrm>
            <a:off x="4631182" y="3009900"/>
            <a:ext cx="2040636" cy="452041"/>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2F5FD0"/>
                </a:solidFill>
                <a:latin typeface="JetBrains Mono" pitchFamily="34" charset="0"/>
                <a:ea typeface="JetBrains Mono" pitchFamily="34" charset="-122"/>
                <a:cs typeface="JetBrains Mono" pitchFamily="34" charset="-120"/>
              </a:rPr>
              <a:t>updateStatus()</a:t>
            </a:r>
            <a:endParaRPr lang="en-US" sz="1200" dirty="0"/>
          </a:p>
          <a:p>
            <a:pPr algn="ctr" indent="0" marL="0">
              <a:lnSpc>
                <a:spcPts val="1680"/>
              </a:lnSpc>
              <a:buNone/>
            </a:pPr>
            <a:r>
              <a:rPr lang="en-US" sz="1200" dirty="0">
                <a:solidFill>
                  <a:srgbClr val="2F5FD0"/>
                </a:solidFill>
                <a:latin typeface="JetBrains Mono" pitchFamily="34" charset="0"/>
                <a:ea typeface="JetBrains Mono" pitchFamily="34" charset="-122"/>
                <a:cs typeface="JetBrains Mono" pitchFamily="34" charset="-120"/>
              </a:rPr>
              <a:t>PickedUp → InTransit</a:t>
            </a:r>
            <a:endParaRPr lang="en-US" sz="1200" dirty="0"/>
          </a:p>
        </p:txBody>
      </p:sp>
      <p:pic>
        <p:nvPicPr>
          <p:cNvPr id="47" name="Image 12" descr="connector">    </p:cNvPr>
          <p:cNvPicPr>
            <a:picLocks noChangeAspect="1"/>
          </p:cNvPicPr>
          <p:nvPr/>
        </p:nvPicPr>
        <p:blipFill>
          <a:blip r:embed="rId13"/>
          <a:srcRect l="0" r="0" t="0" b="0"/>
          <a:stretch/>
        </p:blipFill>
        <p:spPr>
          <a:xfrm>
            <a:off x="6934200" y="3708400"/>
            <a:ext cx="2133600" cy="101600"/>
          </a:xfrm>
          <a:prstGeom prst="rect">
            <a:avLst/>
          </a:prstGeom>
        </p:spPr>
      </p:pic>
      <p:sp>
        <p:nvSpPr>
          <p:cNvPr id="48" name="Shape 33"/>
          <p:cNvSpPr/>
          <p:nvPr/>
        </p:nvSpPr>
        <p:spPr>
          <a:xfrm>
            <a:off x="7334250" y="3505200"/>
            <a:ext cx="1339850" cy="213320"/>
          </a:xfrm>
          <a:prstGeom prst="rect">
            <a:avLst/>
          </a:prstGeom>
          <a:solidFill>
            <a:srgbClr val="F5F2EA"/>
          </a:solidFill>
          <a:ln/>
        </p:spPr>
      </p:sp>
      <p:sp>
        <p:nvSpPr>
          <p:cNvPr id="49" name="Text 34"/>
          <p:cNvSpPr/>
          <p:nvPr/>
        </p:nvSpPr>
        <p:spPr>
          <a:xfrm>
            <a:off x="7308850" y="3505200"/>
            <a:ext cx="1390650"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9A5200"/>
                </a:solidFill>
                <a:latin typeface="JetBrains Mono" pitchFamily="34" charset="0"/>
                <a:ea typeface="JetBrains Mono" pitchFamily="34" charset="-122"/>
                <a:cs typeface="JetBrains Mono" pitchFamily="34" charset="-120"/>
              </a:rPr>
              <a:t>StatusUpdated</a:t>
            </a:r>
            <a:endParaRPr lang="en-US" sz="1200" dirty="0"/>
          </a:p>
        </p:txBody>
      </p:sp>
      <p:pic>
        <p:nvPicPr>
          <p:cNvPr id="50" name="Image 13" descr="connector">    </p:cNvPr>
          <p:cNvPicPr>
            <a:picLocks noChangeAspect="1"/>
          </p:cNvPicPr>
          <p:nvPr/>
        </p:nvPicPr>
        <p:blipFill>
          <a:blip r:embed="rId14"/>
          <a:srcRect l="0" r="0" t="0" b="0"/>
          <a:stretch/>
        </p:blipFill>
        <p:spPr>
          <a:xfrm>
            <a:off x="4267200" y="4127500"/>
            <a:ext cx="2768600" cy="101600"/>
          </a:xfrm>
          <a:prstGeom prst="rect">
            <a:avLst/>
          </a:prstGeom>
        </p:spPr>
      </p:pic>
      <p:sp>
        <p:nvSpPr>
          <p:cNvPr id="51" name="Shape 35"/>
          <p:cNvSpPr/>
          <p:nvPr/>
        </p:nvSpPr>
        <p:spPr>
          <a:xfrm>
            <a:off x="4527550" y="3924300"/>
            <a:ext cx="2254250" cy="213320"/>
          </a:xfrm>
          <a:prstGeom prst="rect">
            <a:avLst/>
          </a:prstGeom>
          <a:solidFill>
            <a:srgbClr val="ECE6D8"/>
          </a:solidFill>
          <a:ln/>
        </p:spPr>
      </p:sp>
      <p:sp>
        <p:nvSpPr>
          <p:cNvPr id="52" name="Text 36"/>
          <p:cNvSpPr/>
          <p:nvPr/>
        </p:nvSpPr>
        <p:spPr>
          <a:xfrm>
            <a:off x="4493736" y="3924300"/>
            <a:ext cx="2321877"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2F5FD0"/>
                </a:solidFill>
                <a:latin typeface="JetBrains Mono" pitchFamily="34" charset="0"/>
                <a:ea typeface="JetBrains Mono" pitchFamily="34" charset="-122"/>
                <a:cs typeface="JetBrains Mono" pitchFamily="34" charset="-120"/>
              </a:rPr>
              <a:t>updateStatus(Delivered)</a:t>
            </a:r>
            <a:endParaRPr lang="en-US" sz="1200" dirty="0"/>
          </a:p>
        </p:txBody>
      </p:sp>
      <p:pic>
        <p:nvPicPr>
          <p:cNvPr id="53" name="Image 14" descr="connector">    </p:cNvPr>
          <p:cNvPicPr>
            <a:picLocks noChangeAspect="1"/>
          </p:cNvPicPr>
          <p:nvPr/>
        </p:nvPicPr>
        <p:blipFill>
          <a:blip r:embed="rId15"/>
          <a:srcRect l="0" r="0" t="0" b="0"/>
          <a:stretch/>
        </p:blipFill>
        <p:spPr>
          <a:xfrm>
            <a:off x="6934200" y="4419600"/>
            <a:ext cx="2133600" cy="101600"/>
          </a:xfrm>
          <a:prstGeom prst="rect">
            <a:avLst/>
          </a:prstGeom>
        </p:spPr>
      </p:pic>
      <p:sp>
        <p:nvSpPr>
          <p:cNvPr id="54" name="Shape 37"/>
          <p:cNvSpPr/>
          <p:nvPr/>
        </p:nvSpPr>
        <p:spPr>
          <a:xfrm>
            <a:off x="7150100" y="4216400"/>
            <a:ext cx="1708150" cy="213320"/>
          </a:xfrm>
          <a:prstGeom prst="rect">
            <a:avLst/>
          </a:prstGeom>
          <a:solidFill>
            <a:srgbClr val="ECE6D8"/>
          </a:solidFill>
          <a:ln/>
        </p:spPr>
      </p:sp>
      <p:sp>
        <p:nvSpPr>
          <p:cNvPr id="55" name="Text 38"/>
          <p:cNvSpPr/>
          <p:nvPr/>
        </p:nvSpPr>
        <p:spPr>
          <a:xfrm>
            <a:off x="7124478" y="4216400"/>
            <a:ext cx="1759395"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9A5200"/>
                </a:solidFill>
                <a:latin typeface="JetBrains Mono" pitchFamily="34" charset="0"/>
                <a:ea typeface="JetBrains Mono" pitchFamily="34" charset="-122"/>
                <a:cs typeface="JetBrains Mono" pitchFamily="34" charset="-120"/>
              </a:rPr>
              <a:t>ShipmentDelivered</a:t>
            </a:r>
            <a:endParaRPr lang="en-US" sz="1200" dirty="0"/>
          </a:p>
        </p:txBody>
      </p:sp>
      <p:pic>
        <p:nvPicPr>
          <p:cNvPr id="56" name="Image 15" descr="connector">    </p:cNvPr>
          <p:cNvPicPr>
            <a:picLocks noChangeAspect="1"/>
          </p:cNvPicPr>
          <p:nvPr/>
        </p:nvPicPr>
        <p:blipFill>
          <a:blip r:embed="rId16"/>
          <a:srcRect l="0" r="0" t="0" b="0"/>
          <a:stretch/>
        </p:blipFill>
        <p:spPr>
          <a:xfrm>
            <a:off x="6934200" y="4711700"/>
            <a:ext cx="3784600" cy="101600"/>
          </a:xfrm>
          <a:prstGeom prst="rect">
            <a:avLst/>
          </a:prstGeom>
        </p:spPr>
      </p:pic>
      <p:sp>
        <p:nvSpPr>
          <p:cNvPr id="57" name="Shape 39"/>
          <p:cNvSpPr/>
          <p:nvPr/>
        </p:nvSpPr>
        <p:spPr>
          <a:xfrm>
            <a:off x="8108950" y="4508500"/>
            <a:ext cx="1435100" cy="213320"/>
          </a:xfrm>
          <a:prstGeom prst="rect">
            <a:avLst/>
          </a:prstGeom>
          <a:solidFill>
            <a:srgbClr val="ECE6D8"/>
          </a:solidFill>
          <a:ln/>
        </p:spPr>
      </p:sp>
      <p:sp>
        <p:nvSpPr>
          <p:cNvPr id="58" name="Text 40"/>
          <p:cNvSpPr/>
          <p:nvPr/>
        </p:nvSpPr>
        <p:spPr>
          <a:xfrm>
            <a:off x="8083550" y="4508500"/>
            <a:ext cx="1485900"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2F5FD0"/>
                </a:solidFill>
                <a:latin typeface="JetBrains Mono" pitchFamily="34" charset="0"/>
                <a:ea typeface="JetBrains Mono" pitchFamily="34" charset="-122"/>
                <a:cs typeface="JetBrains Mono" pitchFamily="34" charset="-120"/>
              </a:rPr>
              <a:t>getHistory(id)</a:t>
            </a:r>
            <a:endParaRPr lang="en-US" sz="1200" dirty="0"/>
          </a:p>
        </p:txBody>
      </p:sp>
      <p:pic>
        <p:nvPicPr>
          <p:cNvPr id="59" name="Image 16" descr="connector">    </p:cNvPr>
          <p:cNvPicPr>
            <a:picLocks noChangeAspect="1"/>
          </p:cNvPicPr>
          <p:nvPr/>
        </p:nvPicPr>
        <p:blipFill>
          <a:blip r:embed="rId17"/>
          <a:srcRect l="0" r="0" t="0" b="0"/>
          <a:stretch/>
        </p:blipFill>
        <p:spPr>
          <a:xfrm>
            <a:off x="6946900" y="5016500"/>
            <a:ext cx="3759200" cy="76200"/>
          </a:xfrm>
          <a:prstGeom prst="rect">
            <a:avLst/>
          </a:prstGeom>
        </p:spPr>
      </p:pic>
      <p:sp>
        <p:nvSpPr>
          <p:cNvPr id="60" name="Shape 41"/>
          <p:cNvSpPr/>
          <p:nvPr/>
        </p:nvSpPr>
        <p:spPr>
          <a:xfrm>
            <a:off x="8108950" y="4800600"/>
            <a:ext cx="1435100" cy="213320"/>
          </a:xfrm>
          <a:prstGeom prst="rect">
            <a:avLst/>
          </a:prstGeom>
          <a:solidFill>
            <a:srgbClr val="ECE6D8"/>
          </a:solidFill>
          <a:ln/>
        </p:spPr>
      </p:sp>
      <p:sp>
        <p:nvSpPr>
          <p:cNvPr id="61" name="Text 42"/>
          <p:cNvSpPr/>
          <p:nvPr/>
        </p:nvSpPr>
        <p:spPr>
          <a:xfrm>
            <a:off x="8083550" y="4800600"/>
            <a:ext cx="1485900"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45505F"/>
                </a:solidFill>
                <a:latin typeface="JetBrains Mono" pitchFamily="34" charset="0"/>
                <a:ea typeface="JetBrains Mono" pitchFamily="34" charset="-122"/>
                <a:cs typeface="JetBrains Mono" pitchFamily="34" charset="-120"/>
              </a:rPr>
              <a:t>StatusUpdate[]</a:t>
            </a:r>
            <a:endParaRPr lang="en-US" sz="1200" dirty="0"/>
          </a:p>
        </p:txBody>
      </p:sp>
      <p:pic>
        <p:nvPicPr>
          <p:cNvPr id="62" name="Image 17" descr="connector">    </p:cNvPr>
          <p:cNvPicPr>
            <a:picLocks noChangeAspect="1"/>
          </p:cNvPicPr>
          <p:nvPr/>
        </p:nvPicPr>
        <p:blipFill>
          <a:blip r:embed="rId18"/>
          <a:srcRect l="0" r="0" t="0" b="0"/>
          <a:stretch/>
        </p:blipFill>
        <p:spPr>
          <a:xfrm>
            <a:off x="2616200" y="5422900"/>
            <a:ext cx="4419600" cy="101600"/>
          </a:xfrm>
          <a:prstGeom prst="rect">
            <a:avLst/>
          </a:prstGeom>
        </p:spPr>
      </p:pic>
      <p:sp>
        <p:nvSpPr>
          <p:cNvPr id="63" name="Shape 43"/>
          <p:cNvSpPr/>
          <p:nvPr/>
        </p:nvSpPr>
        <p:spPr>
          <a:xfrm>
            <a:off x="4019550" y="5219700"/>
            <a:ext cx="1612900" cy="213320"/>
          </a:xfrm>
          <a:prstGeom prst="rect">
            <a:avLst/>
          </a:prstGeom>
          <a:solidFill>
            <a:srgbClr val="F5F2EA"/>
          </a:solidFill>
          <a:ln/>
        </p:spPr>
      </p:sp>
      <p:sp>
        <p:nvSpPr>
          <p:cNvPr id="64" name="Text 44"/>
          <p:cNvSpPr/>
          <p:nvPr/>
        </p:nvSpPr>
        <p:spPr>
          <a:xfrm>
            <a:off x="3994150" y="5219700"/>
            <a:ext cx="1663700"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7A4100"/>
                </a:solidFill>
                <a:latin typeface="JetBrains Mono" pitchFamily="34" charset="0"/>
                <a:ea typeface="JetBrains Mono" pitchFamily="34" charset="-122"/>
                <a:cs typeface="JetBrains Mono" pitchFamily="34" charset="-120"/>
              </a:rPr>
              <a:t>cancelShipment()</a:t>
            </a:r>
            <a:endParaRPr lang="en-US" sz="1200" dirty="0"/>
          </a:p>
        </p:txBody>
      </p:sp>
      <p:pic>
        <p:nvPicPr>
          <p:cNvPr id="65" name="Image 18" descr="connector">    </p:cNvPr>
          <p:cNvPicPr>
            <a:picLocks noChangeAspect="1"/>
          </p:cNvPicPr>
          <p:nvPr/>
        </p:nvPicPr>
        <p:blipFill>
          <a:blip r:embed="rId19"/>
          <a:srcRect l="0" r="0" t="0" b="0"/>
          <a:stretch/>
        </p:blipFill>
        <p:spPr>
          <a:xfrm>
            <a:off x="6934200" y="5715000"/>
            <a:ext cx="2133600" cy="101600"/>
          </a:xfrm>
          <a:prstGeom prst="rect">
            <a:avLst/>
          </a:prstGeom>
        </p:spPr>
      </p:pic>
      <p:sp>
        <p:nvSpPr>
          <p:cNvPr id="66" name="Shape 45"/>
          <p:cNvSpPr/>
          <p:nvPr/>
        </p:nvSpPr>
        <p:spPr>
          <a:xfrm>
            <a:off x="7150100" y="5511800"/>
            <a:ext cx="1708150" cy="213320"/>
          </a:xfrm>
          <a:prstGeom prst="rect">
            <a:avLst/>
          </a:prstGeom>
          <a:solidFill>
            <a:srgbClr val="F5F2EA"/>
          </a:solidFill>
          <a:ln/>
        </p:spPr>
      </p:sp>
      <p:sp>
        <p:nvSpPr>
          <p:cNvPr id="67" name="Text 46"/>
          <p:cNvSpPr/>
          <p:nvPr/>
        </p:nvSpPr>
        <p:spPr>
          <a:xfrm>
            <a:off x="7124478" y="5511800"/>
            <a:ext cx="1759395"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9A5200"/>
                </a:solidFill>
                <a:latin typeface="JetBrains Mono" pitchFamily="34" charset="0"/>
                <a:ea typeface="JetBrains Mono" pitchFamily="34" charset="-122"/>
                <a:cs typeface="JetBrains Mono" pitchFamily="34" charset="-120"/>
              </a:rPr>
              <a:t>ShipmentCancelled</a:t>
            </a:r>
            <a:endParaRPr lang="en-US" sz="1200" dirty="0"/>
          </a:p>
        </p:txBody>
      </p:sp>
      <p:sp>
        <p:nvSpPr>
          <p:cNvPr id="68" name="Text 4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Be Vietnam Pro" pitchFamily="34" charset="0"/>
                <a:ea typeface="Be Vietnam Pro" pitchFamily="34" charset="-122"/>
                <a:cs typeface="Be Vietnam Pro" pitchFamily="34" charset="-120"/>
              </a:rPr>
              <a:t>10 · Theo dõi lô hàng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9A23B"/>
        </a:solidFill>
      </p:bgPr>
    </p:bg>
    <p:spTree>
      <p:nvGrpSpPr>
        <p:cNvPr id="1" name=""/>
        <p:cNvGrpSpPr/>
        <p:nvPr/>
      </p:nvGrpSpPr>
      <p:grpSpPr>
        <a:xfrm>
          <a:off x="0" y="0"/>
          <a:ext cx="0" cy="0"/>
          <a:chOff x="0" y="0"/>
          <a:chExt cx="0" cy="0"/>
        </a:xfrm>
      </p:grpSpPr>
      <p:sp>
        <p:nvSpPr>
          <p:cNvPr id="2" name="Text 0"/>
          <p:cNvSpPr/>
          <p:nvPr/>
        </p:nvSpPr>
        <p:spPr>
          <a:xfrm>
            <a:off x="812800" y="250319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E1A2B"/>
                </a:solidFill>
                <a:latin typeface="JetBrains Mono" pitchFamily="34" charset="0"/>
                <a:ea typeface="JetBrains Mono" pitchFamily="34" charset="-122"/>
                <a:cs typeface="JetBrains Mono" pitchFamily="34" charset="-120"/>
              </a:rPr>
              <a:t>02</a:t>
            </a:r>
            <a:endParaRPr lang="en-US" sz="2000" dirty="0"/>
          </a:p>
        </p:txBody>
      </p:sp>
      <p:sp>
        <p:nvSpPr>
          <p:cNvPr id="3" name="Text 1"/>
          <p:cNvSpPr/>
          <p:nvPr/>
        </p:nvSpPr>
        <p:spPr>
          <a:xfrm>
            <a:off x="812800" y="306199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0E1A2B"/>
                </a:solidFill>
                <a:latin typeface="Be Vietnam Pro" pitchFamily="34" charset="0"/>
                <a:ea typeface="Be Vietnam Pro" pitchFamily="34" charset="-122"/>
                <a:cs typeface="Be Vietnam Pro" pitchFamily="34" charset="-120"/>
              </a:rPr>
              <a:t>Quản lý kho</a:t>
            </a:r>
            <a:endParaRPr lang="en-US" sz="5600" dirty="0"/>
          </a:p>
        </p:txBody>
      </p:sp>
      <p:sp>
        <p:nvSpPr>
          <p:cNvPr id="4" name="Text 2"/>
          <p:cNvSpPr/>
          <p:nvPr/>
        </p:nvSpPr>
        <p:spPr>
          <a:xfrm>
            <a:off x="812800" y="401191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0E1A2B"/>
                </a:solidFill>
                <a:latin typeface="Be Vietnam Pro" pitchFamily="34" charset="0"/>
                <a:ea typeface="Be Vietnam Pro" pitchFamily="34" charset="-122"/>
                <a:cs typeface="Be Vietnam Pro" pitchFamily="34" charset="-120"/>
              </a:rPr>
              <a:t>Warehouse.sol: nhập kho, xuất lên kệ, nhận hàng trả về</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spc="-50" kern="0" dirty="0">
                <a:solidFill>
                  <a:srgbClr val="0E1A2B"/>
                </a:solidFill>
                <a:latin typeface="Be Vietnam Pro" pitchFamily="34" charset="0"/>
                <a:ea typeface="Be Vietnam Pro" pitchFamily="34" charset="-122"/>
                <a:cs typeface="Be Vietnam Pro" pitchFamily="34" charset="-120"/>
              </a:rPr>
              <a:t>Luồng hàng giữa kho và siêu thị</a:t>
            </a:r>
            <a:endParaRPr lang="en-US" sz="3600" dirty="0"/>
          </a:p>
        </p:txBody>
      </p:sp>
      <p:sp>
        <p:nvSpPr>
          <p:cNvPr id="3" name="Shape 1"/>
          <p:cNvSpPr/>
          <p:nvPr/>
        </p:nvSpPr>
        <p:spPr>
          <a:xfrm>
            <a:off x="819150" y="2101850"/>
            <a:ext cx="2527300" cy="939800"/>
          </a:xfrm>
          <a:prstGeom prst="roundRect">
            <a:avLst>
              <a:gd name="adj" fmla="val 10135"/>
            </a:avLst>
          </a:prstGeom>
          <a:solidFill>
            <a:srgbClr val="FFFCF5"/>
          </a:solidFill>
          <a:ln w="12700">
            <a:solidFill>
              <a:srgbClr val="2F5FD0"/>
            </a:solidFill>
            <a:prstDash val="solid"/>
          </a:ln>
        </p:spPr>
      </p:sp>
      <p:sp>
        <p:nvSpPr>
          <p:cNvPr id="4" name="Text 2"/>
          <p:cNvSpPr/>
          <p:nvPr/>
        </p:nvSpPr>
        <p:spPr>
          <a:xfrm>
            <a:off x="1425377" y="2338090"/>
            <a:ext cx="136564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Be Vietnam Pro" pitchFamily="34" charset="0"/>
                <a:ea typeface="Be Vietnam Pro" pitchFamily="34" charset="-122"/>
                <a:cs typeface="Be Vietnam Pro" pitchFamily="34" charset="-120"/>
              </a:rPr>
              <a:t>Nhà cung cấp</a:t>
            </a:r>
            <a:endParaRPr lang="en-US" sz="1500" dirty="0"/>
          </a:p>
        </p:txBody>
      </p:sp>
      <p:sp>
        <p:nvSpPr>
          <p:cNvPr id="5" name="Text 3"/>
          <p:cNvSpPr/>
          <p:nvPr/>
        </p:nvSpPr>
        <p:spPr>
          <a:xfrm>
            <a:off x="1367036" y="2592090"/>
            <a:ext cx="1482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Nhập hàng vào kho</a:t>
            </a:r>
            <a:endParaRPr lang="en-US" sz="1200" dirty="0"/>
          </a:p>
        </p:txBody>
      </p:sp>
      <p:sp>
        <p:nvSpPr>
          <p:cNvPr id="6" name="Shape 4"/>
          <p:cNvSpPr/>
          <p:nvPr/>
        </p:nvSpPr>
        <p:spPr>
          <a:xfrm>
            <a:off x="4826000" y="2095500"/>
            <a:ext cx="2540000" cy="952500"/>
          </a:xfrm>
          <a:prstGeom prst="roundRect">
            <a:avLst>
              <a:gd name="adj" fmla="val 10667"/>
            </a:avLst>
          </a:prstGeom>
          <a:solidFill>
            <a:srgbClr val="0E1A2B"/>
          </a:solidFill>
          <a:ln/>
        </p:spPr>
      </p:sp>
      <p:sp>
        <p:nvSpPr>
          <p:cNvPr id="7" name="Text 5"/>
          <p:cNvSpPr/>
          <p:nvPr/>
        </p:nvSpPr>
        <p:spPr>
          <a:xfrm>
            <a:off x="5416451" y="2338090"/>
            <a:ext cx="140989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2EA"/>
                </a:solidFill>
                <a:latin typeface="Be Vietnam Pro" pitchFamily="34" charset="0"/>
                <a:ea typeface="Be Vietnam Pro" pitchFamily="34" charset="-122"/>
                <a:cs typeface="Be Vietnam Pro" pitchFamily="34" charset="-120"/>
              </a:rPr>
              <a:t>Kho trung tâm</a:t>
            </a:r>
            <a:endParaRPr lang="en-US" sz="1500" dirty="0"/>
          </a:p>
        </p:txBody>
      </p:sp>
      <p:sp>
        <p:nvSpPr>
          <p:cNvPr id="8" name="Text 6"/>
          <p:cNvSpPr/>
          <p:nvPr/>
        </p:nvSpPr>
        <p:spPr>
          <a:xfrm>
            <a:off x="5501580" y="2592090"/>
            <a:ext cx="1239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3D4"/>
                </a:solidFill>
                <a:latin typeface="JetBrains Mono" pitchFamily="34" charset="0"/>
                <a:ea typeface="JetBrains Mono" pitchFamily="34" charset="-122"/>
                <a:cs typeface="JetBrains Mono" pitchFamily="34" charset="-120"/>
              </a:rPr>
              <a:t>Warehouse.sol</a:t>
            </a:r>
            <a:endParaRPr lang="en-US" sz="1200" dirty="0"/>
          </a:p>
        </p:txBody>
      </p:sp>
      <p:sp>
        <p:nvSpPr>
          <p:cNvPr id="9" name="Shape 7"/>
          <p:cNvSpPr/>
          <p:nvPr/>
        </p:nvSpPr>
        <p:spPr>
          <a:xfrm>
            <a:off x="8845550" y="2101850"/>
            <a:ext cx="2527300" cy="939800"/>
          </a:xfrm>
          <a:prstGeom prst="roundRect">
            <a:avLst>
              <a:gd name="adj" fmla="val 10135"/>
            </a:avLst>
          </a:prstGeom>
          <a:solidFill>
            <a:srgbClr val="FFFCF5"/>
          </a:solidFill>
          <a:ln w="12700">
            <a:solidFill>
              <a:srgbClr val="2F5FD0"/>
            </a:solidFill>
            <a:prstDash val="solid"/>
          </a:ln>
        </p:spPr>
      </p:sp>
      <p:sp>
        <p:nvSpPr>
          <p:cNvPr id="10" name="Text 8"/>
          <p:cNvSpPr/>
          <p:nvPr/>
        </p:nvSpPr>
        <p:spPr>
          <a:xfrm>
            <a:off x="9615686" y="2338090"/>
            <a:ext cx="103782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Be Vietnam Pro" pitchFamily="34" charset="0"/>
                <a:ea typeface="Be Vietnam Pro" pitchFamily="34" charset="-122"/>
                <a:cs typeface="Be Vietnam Pro" pitchFamily="34" charset="-120"/>
              </a:rPr>
              <a:t>Kệ siêu thị</a:t>
            </a:r>
            <a:endParaRPr lang="en-US" sz="1500" dirty="0"/>
          </a:p>
        </p:txBody>
      </p:sp>
      <p:sp>
        <p:nvSpPr>
          <p:cNvPr id="11" name="Text 9"/>
          <p:cNvSpPr/>
          <p:nvPr/>
        </p:nvSpPr>
        <p:spPr>
          <a:xfrm>
            <a:off x="9592568" y="2592090"/>
            <a:ext cx="10839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Hàng bày bán</a:t>
            </a:r>
            <a:endParaRPr lang="en-US" sz="1200" dirty="0"/>
          </a:p>
        </p:txBody>
      </p:sp>
      <p:sp>
        <p:nvSpPr>
          <p:cNvPr id="12" name="Text 10"/>
          <p:cNvSpPr/>
          <p:nvPr/>
        </p:nvSpPr>
        <p:spPr>
          <a:xfrm>
            <a:off x="3327400" y="2235200"/>
            <a:ext cx="1524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F5FD0"/>
                </a:solidFill>
                <a:latin typeface="JetBrains Mono" pitchFamily="34" charset="0"/>
                <a:ea typeface="JetBrains Mono" pitchFamily="34" charset="-122"/>
                <a:cs typeface="JetBrains Mono" pitchFamily="34" charset="-120"/>
              </a:rPr>
              <a:t>receiveStock</a:t>
            </a:r>
            <a:endParaRPr lang="en-US" sz="1200" dirty="0"/>
          </a:p>
        </p:txBody>
      </p:sp>
      <p:sp>
        <p:nvSpPr>
          <p:cNvPr id="13" name="Text 11"/>
          <p:cNvSpPr/>
          <p:nvPr/>
        </p:nvSpPr>
        <p:spPr>
          <a:xfrm>
            <a:off x="7340600" y="2235200"/>
            <a:ext cx="1524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F5FD0"/>
                </a:solidFill>
                <a:latin typeface="JetBrains Mono" pitchFamily="34" charset="0"/>
                <a:ea typeface="JetBrains Mono" pitchFamily="34" charset="-122"/>
                <a:cs typeface="JetBrains Mono" pitchFamily="34" charset="-120"/>
              </a:rPr>
              <a:t>takeForShelf</a:t>
            </a:r>
            <a:endParaRPr lang="en-US" sz="1200" dirty="0"/>
          </a:p>
        </p:txBody>
      </p:sp>
      <p:sp>
        <p:nvSpPr>
          <p:cNvPr id="14" name="Text 12"/>
          <p:cNvSpPr/>
          <p:nvPr/>
        </p:nvSpPr>
        <p:spPr>
          <a:xfrm>
            <a:off x="6689852" y="3695700"/>
            <a:ext cx="282549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5200"/>
                </a:solidFill>
                <a:latin typeface="JetBrains Mono" pitchFamily="34" charset="0"/>
                <a:ea typeface="JetBrains Mono" pitchFamily="34" charset="-122"/>
                <a:cs typeface="JetBrains Mono" pitchFamily="34" charset="-120"/>
              </a:rPr>
              <a:t>returnFromShelf</a:t>
            </a:r>
            <a:endParaRPr lang="en-US" sz="1200" dirty="0"/>
          </a:p>
        </p:txBody>
      </p:sp>
      <p:pic>
        <p:nvPicPr>
          <p:cNvPr id="15" name="Image 0" descr="connector">    </p:cNvPr>
          <p:cNvPicPr>
            <a:picLocks noChangeAspect="1"/>
          </p:cNvPicPr>
          <p:nvPr/>
        </p:nvPicPr>
        <p:blipFill>
          <a:blip r:embed="rId1"/>
          <a:srcRect l="0" r="0" t="0" b="0"/>
          <a:stretch/>
        </p:blipFill>
        <p:spPr>
          <a:xfrm>
            <a:off x="3352800" y="2616200"/>
            <a:ext cx="1473200" cy="101600"/>
          </a:xfrm>
          <a:prstGeom prst="rect">
            <a:avLst/>
          </a:prstGeom>
        </p:spPr>
      </p:pic>
      <p:pic>
        <p:nvPicPr>
          <p:cNvPr id="16" name="Image 1" descr="connector">    </p:cNvPr>
          <p:cNvPicPr>
            <a:picLocks noChangeAspect="1"/>
          </p:cNvPicPr>
          <p:nvPr/>
        </p:nvPicPr>
        <p:blipFill>
          <a:blip r:embed="rId2"/>
          <a:srcRect l="0" r="0" t="0" b="0"/>
          <a:stretch/>
        </p:blipFill>
        <p:spPr>
          <a:xfrm>
            <a:off x="7366000" y="2616200"/>
            <a:ext cx="1473200" cy="101600"/>
          </a:xfrm>
          <a:prstGeom prst="rect">
            <a:avLst/>
          </a:prstGeom>
        </p:spPr>
      </p:pic>
      <p:pic>
        <p:nvPicPr>
          <p:cNvPr id="17" name="Image 2" descr="connector">    </p:cNvPr>
          <p:cNvPicPr>
            <a:picLocks noChangeAspect="1"/>
          </p:cNvPicPr>
          <p:nvPr/>
        </p:nvPicPr>
        <p:blipFill>
          <a:blip r:embed="rId3"/>
          <a:srcRect l="0" r="0" t="0" b="0"/>
          <a:stretch/>
        </p:blipFill>
        <p:spPr>
          <a:xfrm>
            <a:off x="8051800" y="2997200"/>
            <a:ext cx="2108200" cy="609600"/>
          </a:xfrm>
          <a:prstGeom prst="rect">
            <a:avLst/>
          </a:prstGeom>
        </p:spPr>
      </p:pic>
      <p:pic>
        <p:nvPicPr>
          <p:cNvPr id="18" name="Image 3" descr="connector">    </p:cNvPr>
          <p:cNvPicPr>
            <a:picLocks noChangeAspect="1"/>
          </p:cNvPicPr>
          <p:nvPr/>
        </p:nvPicPr>
        <p:blipFill>
          <a:blip r:embed="rId4"/>
          <a:srcRect l="0" r="0" t="0" b="0"/>
          <a:stretch/>
        </p:blipFill>
        <p:spPr>
          <a:xfrm>
            <a:off x="6045200" y="3048000"/>
            <a:ext cx="2108200" cy="558800"/>
          </a:xfrm>
          <a:prstGeom prst="rect">
            <a:avLst/>
          </a:prstGeom>
        </p:spPr>
      </p:pic>
      <p:sp>
        <p:nvSpPr>
          <p:cNvPr id="19" name="Shape 13"/>
          <p:cNvSpPr/>
          <p:nvPr/>
        </p:nvSpPr>
        <p:spPr>
          <a:xfrm>
            <a:off x="815975" y="4321175"/>
            <a:ext cx="3380284" cy="841970"/>
          </a:xfrm>
          <a:prstGeom prst="roundRect">
            <a:avLst>
              <a:gd name="adj" fmla="val 11690"/>
            </a:avLst>
          </a:prstGeom>
          <a:solidFill>
            <a:srgbClr val="FFFCF5"/>
          </a:solidFill>
          <a:ln w="6350">
            <a:solidFill>
              <a:srgbClr val="E2DCCD"/>
            </a:solidFill>
            <a:prstDash val="solid"/>
          </a:ln>
        </p:spPr>
      </p:sp>
      <p:sp>
        <p:nvSpPr>
          <p:cNvPr id="20" name="Text 14"/>
          <p:cNvSpPr/>
          <p:nvPr/>
        </p:nvSpPr>
        <p:spPr>
          <a:xfrm>
            <a:off x="1022350" y="4476750"/>
            <a:ext cx="30565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5FD0"/>
                </a:solidFill>
                <a:latin typeface="JetBrains Mono" pitchFamily="34" charset="0"/>
                <a:ea typeface="JetBrains Mono" pitchFamily="34" charset="-122"/>
                <a:cs typeface="JetBrains Mono" pitchFamily="34" charset="-120"/>
              </a:rPr>
              <a:t>InStock</a:t>
            </a:r>
            <a:endParaRPr lang="en-US" sz="1500" dirty="0"/>
          </a:p>
        </p:txBody>
      </p:sp>
      <p:sp>
        <p:nvSpPr>
          <p:cNvPr id="21" name="Text 15"/>
          <p:cNvSpPr/>
          <p:nvPr/>
        </p:nvSpPr>
        <p:spPr>
          <a:xfrm>
            <a:off x="1022350" y="4794250"/>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Kho còn hàng</a:t>
            </a:r>
            <a:endParaRPr lang="en-US" sz="1200" dirty="0"/>
          </a:p>
        </p:txBody>
      </p:sp>
      <p:sp>
        <p:nvSpPr>
          <p:cNvPr id="22" name="Shape 16"/>
          <p:cNvSpPr/>
          <p:nvPr/>
        </p:nvSpPr>
        <p:spPr>
          <a:xfrm>
            <a:off x="4405809" y="4321175"/>
            <a:ext cx="3380383" cy="841970"/>
          </a:xfrm>
          <a:prstGeom prst="roundRect">
            <a:avLst>
              <a:gd name="adj" fmla="val 11690"/>
            </a:avLst>
          </a:prstGeom>
          <a:solidFill>
            <a:srgbClr val="FFFCF5"/>
          </a:solidFill>
          <a:ln w="6350">
            <a:solidFill>
              <a:srgbClr val="E2DCCD"/>
            </a:solidFill>
            <a:prstDash val="solid"/>
          </a:ln>
        </p:spPr>
      </p:sp>
      <p:sp>
        <p:nvSpPr>
          <p:cNvPr id="23" name="Text 17"/>
          <p:cNvSpPr/>
          <p:nvPr/>
        </p:nvSpPr>
        <p:spPr>
          <a:xfrm>
            <a:off x="4612184" y="4476750"/>
            <a:ext cx="305666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1A2B"/>
                </a:solidFill>
                <a:latin typeface="JetBrains Mono" pitchFamily="34" charset="0"/>
                <a:ea typeface="JetBrains Mono" pitchFamily="34" charset="-122"/>
                <a:cs typeface="JetBrains Mono" pitchFamily="34" charset="-120"/>
              </a:rPr>
              <a:t>OutOfStock</a:t>
            </a:r>
            <a:endParaRPr lang="en-US" sz="1500" dirty="0"/>
          </a:p>
        </p:txBody>
      </p:sp>
      <p:sp>
        <p:nvSpPr>
          <p:cNvPr id="24" name="Text 18"/>
          <p:cNvSpPr/>
          <p:nvPr/>
        </p:nvSpPr>
        <p:spPr>
          <a:xfrm>
            <a:off x="4612184" y="4794250"/>
            <a:ext cx="30566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Số lượng về 0 sau khi xuất lên kệ</a:t>
            </a:r>
            <a:endParaRPr lang="en-US" sz="1200" dirty="0"/>
          </a:p>
        </p:txBody>
      </p:sp>
      <p:sp>
        <p:nvSpPr>
          <p:cNvPr id="25" name="Shape 19"/>
          <p:cNvSpPr/>
          <p:nvPr/>
        </p:nvSpPr>
        <p:spPr>
          <a:xfrm>
            <a:off x="7995741" y="4321175"/>
            <a:ext cx="3380284" cy="841970"/>
          </a:xfrm>
          <a:prstGeom prst="roundRect">
            <a:avLst>
              <a:gd name="adj" fmla="val 11690"/>
            </a:avLst>
          </a:prstGeom>
          <a:solidFill>
            <a:srgbClr val="FFFCF5"/>
          </a:solidFill>
          <a:ln w="6350">
            <a:solidFill>
              <a:srgbClr val="E2DCCD"/>
            </a:solidFill>
            <a:prstDash val="solid"/>
          </a:ln>
        </p:spPr>
      </p:sp>
      <p:sp>
        <p:nvSpPr>
          <p:cNvPr id="26" name="Text 20"/>
          <p:cNvSpPr/>
          <p:nvPr/>
        </p:nvSpPr>
        <p:spPr>
          <a:xfrm>
            <a:off x="8202116" y="4476750"/>
            <a:ext cx="30565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200"/>
                </a:solidFill>
                <a:latin typeface="JetBrains Mono" pitchFamily="34" charset="0"/>
                <a:ea typeface="JetBrains Mono" pitchFamily="34" charset="-122"/>
                <a:cs typeface="JetBrains Mono" pitchFamily="34" charset="-120"/>
              </a:rPr>
              <a:t>Returned</a:t>
            </a:r>
            <a:endParaRPr lang="en-US" sz="1500" dirty="0"/>
          </a:p>
        </p:txBody>
      </p:sp>
      <p:sp>
        <p:nvSpPr>
          <p:cNvPr id="27" name="Text 21"/>
          <p:cNvSpPr/>
          <p:nvPr/>
        </p:nvSpPr>
        <p:spPr>
          <a:xfrm>
            <a:off x="8202116" y="4794250"/>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Lần gần nhất là hàng trả về từ kệ</a:t>
            </a:r>
            <a:endParaRPr lang="en-US" sz="1200" dirty="0"/>
          </a:p>
        </p:txBody>
      </p:sp>
      <p:sp>
        <p:nvSpPr>
          <p:cNvPr id="28"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Be Vietnam Pro" pitchFamily="34" charset="0"/>
                <a:ea typeface="Be Vietnam Pro" pitchFamily="34" charset="-122"/>
                <a:cs typeface="Be Vietnam Pro" pitchFamily="34" charset="-120"/>
              </a:rPr>
              <a:t>12 · Quản lý kho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spc="-50" kern="0" dirty="0">
                <a:solidFill>
                  <a:srgbClr val="0E1A2B"/>
                </a:solidFill>
                <a:latin typeface="Be Vietnam Pro" pitchFamily="34" charset="0"/>
                <a:ea typeface="Be Vietnam Pro" pitchFamily="34" charset="-122"/>
                <a:cs typeface="Be Vietnam Pro" pitchFamily="34" charset="-120"/>
              </a:rPr>
              <a:t>Xuất kho an toàn: takeForShelf()</a:t>
            </a:r>
            <a:endParaRPr lang="en-US" sz="3600" dirty="0"/>
          </a:p>
        </p:txBody>
      </p:sp>
      <p:sp>
        <p:nvSpPr>
          <p:cNvPr id="3" name="Shape 1"/>
          <p:cNvSpPr/>
          <p:nvPr/>
        </p:nvSpPr>
        <p:spPr>
          <a:xfrm>
            <a:off x="812800" y="1643360"/>
            <a:ext cx="6985000" cy="3601442"/>
          </a:xfrm>
          <a:prstGeom prst="roundRect">
            <a:avLst>
              <a:gd name="adj" fmla="val 3526"/>
            </a:avLst>
          </a:prstGeom>
          <a:solidFill>
            <a:srgbClr val="0E1A2B"/>
          </a:solidFill>
          <a:ln/>
        </p:spPr>
      </p:sp>
      <p:sp>
        <p:nvSpPr>
          <p:cNvPr id="4" name="Text 2"/>
          <p:cNvSpPr/>
          <p:nvPr/>
        </p:nvSpPr>
        <p:spPr>
          <a:xfrm>
            <a:off x="1066800" y="1897360"/>
            <a:ext cx="6671310" cy="3118842"/>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F2B35A"/>
                </a:solidFill>
                <a:latin typeface="JetBrains Mono" pitchFamily="34" charset="0"/>
                <a:ea typeface="JetBrains Mono" pitchFamily="34" charset="-122"/>
                <a:cs typeface="JetBrains Mono" pitchFamily="34" charset="-120"/>
              </a:rPr>
              <a:t>function</a:t>
            </a:r>
            <a:r>
              <a:rPr lang="en-US" sz="1200" dirty="0">
                <a:solidFill>
                  <a:srgbClr val="E6E1D6"/>
                </a:solidFill>
                <a:latin typeface="JetBrains Mono" pitchFamily="34" charset="0"/>
                <a:ea typeface="JetBrains Mono" pitchFamily="34" charset="-122"/>
                <a:cs typeface="JetBrains Mono" pitchFamily="34" charset="-120"/>
              </a:rPr>
              <a:t> takeForShelf(</a:t>
            </a:r>
            <a:r>
              <a:rPr lang="en-US" sz="1200" dirty="0">
                <a:solidFill>
                  <a:srgbClr val="8DB4FF"/>
                </a:solidFill>
                <a:latin typeface="JetBrains Mono" pitchFamily="34" charset="0"/>
                <a:ea typeface="JetBrains Mono" pitchFamily="34" charset="-122"/>
                <a:cs typeface="JetBrains Mono" pitchFamily="34" charset="-120"/>
              </a:rPr>
              <a:t>uint256</a:t>
            </a:r>
            <a:r>
              <a:rPr lang="en-US" sz="1200" dirty="0">
                <a:solidFill>
                  <a:srgbClr val="E6E1D6"/>
                </a:solidFill>
                <a:latin typeface="JetBrains Mono" pitchFamily="34" charset="0"/>
                <a:ea typeface="JetBrains Mono" pitchFamily="34" charset="-122"/>
                <a:cs typeface="JetBrains Mono" pitchFamily="34" charset="-120"/>
              </a:rPr>
              <a:t> productId, </a:t>
            </a:r>
            <a:r>
              <a:rPr lang="en-US" sz="1200" dirty="0">
                <a:solidFill>
                  <a:srgbClr val="8DB4FF"/>
                </a:solidFill>
                <a:latin typeface="JetBrains Mono" pitchFamily="34" charset="0"/>
                <a:ea typeface="JetBrains Mono" pitchFamily="34" charset="-122"/>
                <a:cs typeface="JetBrains Mono" pitchFamily="34" charset="-120"/>
              </a:rPr>
              <a:t>uint256</a:t>
            </a:r>
            <a:r>
              <a:rPr lang="en-US" sz="1200" dirty="0">
                <a:solidFill>
                  <a:srgbClr val="E6E1D6"/>
                </a:solidFill>
                <a:latin typeface="JetBrains Mono" pitchFamily="34" charset="0"/>
                <a:ea typeface="JetBrains Mono" pitchFamily="34" charset="-122"/>
                <a:cs typeface="JetBrains Mono" pitchFamily="34" charset="-120"/>
              </a:rPr>
              <a:t> amount) </a:t>
            </a:r>
            <a:r>
              <a:rPr lang="en-US" sz="1200" dirty="0">
                <a:solidFill>
                  <a:srgbClr val="F2B35A"/>
                </a:solidFill>
                <a:latin typeface="JetBrains Mono" pitchFamily="34" charset="0"/>
                <a:ea typeface="JetBrains Mono" pitchFamily="34" charset="-122"/>
                <a:cs typeface="JetBrains Mono" pitchFamily="34" charset="-120"/>
              </a:rPr>
              <a:t>external</a:t>
            </a:r>
            <a:r>
              <a:rPr lang="en-US" sz="1200" dirty="0">
                <a:solidFill>
                  <a:srgbClr val="E6E1D6"/>
                </a:solidFill>
                <a:latin typeface="JetBrains Mono" pitchFamily="34" charset="0"/>
                <a:ea typeface="JetBrains Mono" pitchFamily="34" charset="-122"/>
                <a:cs typeface="JetBrains Mono" pitchFamily="34" charset="-120"/>
              </a:rPr>
              <a:t> {</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require</a:t>
            </a:r>
            <a:r>
              <a:rPr lang="en-US" sz="1200" dirty="0">
                <a:solidFill>
                  <a:srgbClr val="E6E1D6"/>
                </a:solidFill>
                <a:latin typeface="JetBrains Mono" pitchFamily="34" charset="0"/>
                <a:ea typeface="JetBrains Mono" pitchFamily="34" charset="-122"/>
                <a:cs typeface="JetBrains Mono" pitchFamily="34" charset="-120"/>
              </a:rPr>
              <a:t>(items[productId].exists, </a:t>
            </a:r>
            <a:r>
              <a:rPr lang="en-US" sz="1200" dirty="0">
                <a:solidFill>
                  <a:srgbClr val="9BCB9F"/>
                </a:solidFill>
                <a:latin typeface="JetBrains Mono" pitchFamily="34" charset="0"/>
                <a:ea typeface="JetBrains Mono" pitchFamily="34" charset="-122"/>
                <a:cs typeface="JetBrains Mono" pitchFamily="34" charset="-120"/>
              </a:rPr>
              <a:t>"Warehouse item not found"</a:t>
            </a:r>
            <a:r>
              <a:rPr lang="en-US" sz="1200" dirty="0">
                <a:solidFill>
                  <a:srgbClr val="E6E1D6"/>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require</a:t>
            </a:r>
            <a:r>
              <a:rPr lang="en-US" sz="1200" dirty="0">
                <a:solidFill>
                  <a:srgbClr val="E6E1D6"/>
                </a:solidFill>
                <a:latin typeface="JetBrains Mono" pitchFamily="34" charset="0"/>
                <a:ea typeface="JetBrains Mono" pitchFamily="34" charset="-122"/>
                <a:cs typeface="JetBrains Mono" pitchFamily="34" charset="-120"/>
              </a:rPr>
              <a:t>(amount &gt; 0, </a:t>
            </a:r>
            <a:r>
              <a:rPr lang="en-US" sz="1200" dirty="0">
                <a:solidFill>
                  <a:srgbClr val="9BCB9F"/>
                </a:solidFill>
                <a:latin typeface="JetBrains Mono" pitchFamily="34" charset="0"/>
                <a:ea typeface="JetBrains Mono" pitchFamily="34" charset="-122"/>
                <a:cs typeface="JetBrains Mono" pitchFamily="34" charset="-120"/>
              </a:rPr>
              <a:t>"Amount must be greater than 0"</a:t>
            </a:r>
            <a:r>
              <a:rPr lang="en-US" sz="1200" dirty="0">
                <a:solidFill>
                  <a:srgbClr val="E6E1D6"/>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require</a:t>
            </a:r>
            <a:r>
              <a:rPr lang="en-US" sz="1200" dirty="0">
                <a:solidFill>
                  <a:srgbClr val="E6E1D6"/>
                </a:solidFill>
                <a:latin typeface="JetBrains Mono" pitchFamily="34" charset="0"/>
                <a:ea typeface="JetBrains Mono" pitchFamily="34" charset="-122"/>
                <a:cs typeface="JetBrains Mono" pitchFamily="34" charset="-120"/>
              </a:rPr>
              <a:t>(items[productId].quantity &gt;= amount,</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9BCB9F"/>
                </a:solidFill>
                <a:latin typeface="JetBrains Mono" pitchFamily="34" charset="0"/>
                <a:ea typeface="JetBrains Mono" pitchFamily="34" charset="-122"/>
                <a:cs typeface="JetBrains Mono" pitchFamily="34" charset="-120"/>
              </a:rPr>
              <a:t>"Not enough stock in warehouse"</a:t>
            </a:r>
            <a:r>
              <a:rPr lang="en-US" sz="1200" dirty="0">
                <a:solidFill>
                  <a:srgbClr val="E6E1D6"/>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items[productId].quantity -= amount;</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if</a:t>
            </a:r>
            <a:r>
              <a:rPr lang="en-US" sz="1200" dirty="0">
                <a:solidFill>
                  <a:srgbClr val="E6E1D6"/>
                </a:solidFill>
                <a:latin typeface="JetBrains Mono" pitchFamily="34" charset="0"/>
                <a:ea typeface="JetBrains Mono" pitchFamily="34" charset="-122"/>
                <a:cs typeface="JetBrains Mono" pitchFamily="34" charset="-120"/>
              </a:rPr>
              <a:t> (items[productId].quantity == 0) {</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items[productId].status = WarehouseStatus.OutOfStock;</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 </a:t>
            </a:r>
            <a:r>
              <a:rPr lang="en-US" sz="1200" dirty="0">
                <a:solidFill>
                  <a:srgbClr val="F2B35A"/>
                </a:solidFill>
                <a:latin typeface="JetBrains Mono" pitchFamily="34" charset="0"/>
                <a:ea typeface="JetBrains Mono" pitchFamily="34" charset="-122"/>
                <a:cs typeface="JetBrains Mono" pitchFamily="34" charset="-120"/>
              </a:rPr>
              <a:t>else</a:t>
            </a:r>
            <a:r>
              <a:rPr lang="en-US" sz="1200" dirty="0">
                <a:solidFill>
                  <a:srgbClr val="E6E1D6"/>
                </a:solidFill>
                <a:latin typeface="JetBrains Mono" pitchFamily="34" charset="0"/>
                <a:ea typeface="JetBrains Mono" pitchFamily="34" charset="-122"/>
                <a:cs typeface="JetBrains Mono" pitchFamily="34" charset="-120"/>
              </a:rPr>
              <a:t> {</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items[productId].status = WarehouseStatus.InStock;</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endParaRPr lang="en-US" sz="1200" dirty="0"/>
          </a:p>
          <a:p>
            <a:pPr algn="l" indent="0" marL="0">
              <a:lnSpc>
                <a:spcPts val="1740"/>
              </a:lnSpc>
              <a:buNone/>
            </a:pP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    </a:t>
            </a:r>
            <a:r>
              <a:rPr lang="en-US" sz="1200" dirty="0">
                <a:solidFill>
                  <a:srgbClr val="F2B35A"/>
                </a:solidFill>
                <a:latin typeface="JetBrains Mono" pitchFamily="34" charset="0"/>
                <a:ea typeface="JetBrains Mono" pitchFamily="34" charset="-122"/>
                <a:cs typeface="JetBrains Mono" pitchFamily="34" charset="-120"/>
              </a:rPr>
              <a:t>emit</a:t>
            </a:r>
            <a:r>
              <a:rPr lang="en-US" sz="1200" dirty="0">
                <a:solidFill>
                  <a:srgbClr val="E6E1D6"/>
                </a:solidFill>
                <a:latin typeface="JetBrains Mono" pitchFamily="34" charset="0"/>
                <a:ea typeface="JetBrains Mono" pitchFamily="34" charset="-122"/>
                <a:cs typeface="JetBrains Mono" pitchFamily="34" charset="-120"/>
              </a:rPr>
              <a:t> TakenForShelf(productId, amount, items[productId].quantity);</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a:t>
            </a:r>
            <a:endParaRPr lang="en-US" sz="1200" dirty="0"/>
          </a:p>
        </p:txBody>
      </p:sp>
      <p:sp>
        <p:nvSpPr>
          <p:cNvPr id="5" name="Text 3"/>
          <p:cNvSpPr/>
          <p:nvPr/>
        </p:nvSpPr>
        <p:spPr>
          <a:xfrm>
            <a:off x="8102600" y="1643360"/>
            <a:ext cx="337489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Be Vietnam Pro" pitchFamily="34" charset="0"/>
                <a:ea typeface="Be Vietnam Pro" pitchFamily="34" charset="-122"/>
                <a:cs typeface="Be Vietnam Pro" pitchFamily="34" charset="-120"/>
              </a:rPr>
              <a:t>Không bao giờ âm kho</a:t>
            </a:r>
            <a:endParaRPr lang="en-US" sz="1500" dirty="0"/>
          </a:p>
        </p:txBody>
      </p:sp>
      <p:sp>
        <p:nvSpPr>
          <p:cNvPr id="6" name="Text 4"/>
          <p:cNvSpPr/>
          <p:nvPr/>
        </p:nvSpPr>
        <p:spPr>
          <a:xfrm>
            <a:off x="8102600" y="1941810"/>
            <a:ext cx="337489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5505F"/>
                </a:solidFill>
                <a:latin typeface="Be Vietnam Pro" pitchFamily="34" charset="0"/>
                <a:ea typeface="Be Vietnam Pro" pitchFamily="34" charset="-122"/>
                <a:cs typeface="Be Vietnam Pro" pitchFamily="34" charset="-120"/>
              </a:rPr>
              <a:t>require chặn xuất vượt số lượng; cả giao dịch bị hoàn tác.</a:t>
            </a:r>
            <a:endParaRPr lang="en-US" sz="1200" dirty="0"/>
          </a:p>
        </p:txBody>
      </p:sp>
      <p:sp>
        <p:nvSpPr>
          <p:cNvPr id="7" name="Text 5"/>
          <p:cNvSpPr/>
          <p:nvPr/>
        </p:nvSpPr>
        <p:spPr>
          <a:xfrm>
            <a:off x="8102600" y="2612330"/>
            <a:ext cx="337489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Be Vietnam Pro" pitchFamily="34" charset="0"/>
                <a:ea typeface="Be Vietnam Pro" pitchFamily="34" charset="-122"/>
                <a:cs typeface="Be Vietnam Pro" pitchFamily="34" charset="-120"/>
              </a:rPr>
              <a:t>Trạng thái tự cập nhật</a:t>
            </a:r>
            <a:endParaRPr lang="en-US" sz="1500" dirty="0"/>
          </a:p>
        </p:txBody>
      </p:sp>
      <p:sp>
        <p:nvSpPr>
          <p:cNvPr id="8" name="Text 6"/>
          <p:cNvSpPr/>
          <p:nvPr/>
        </p:nvSpPr>
        <p:spPr>
          <a:xfrm>
            <a:off x="8102600" y="2910780"/>
            <a:ext cx="337489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5505F"/>
                </a:solidFill>
                <a:latin typeface="Be Vietnam Pro" pitchFamily="34" charset="0"/>
                <a:ea typeface="Be Vietnam Pro" pitchFamily="34" charset="-122"/>
                <a:cs typeface="Be Vietnam Pro" pitchFamily="34" charset="-120"/>
              </a:rPr>
              <a:t>Về 0 thì chuyển OutOfStock, không ai phải sửa tay.</a:t>
            </a:r>
            <a:endParaRPr lang="en-US" sz="1200" dirty="0"/>
          </a:p>
        </p:txBody>
      </p:sp>
      <p:sp>
        <p:nvSpPr>
          <p:cNvPr id="9" name="Text 7"/>
          <p:cNvSpPr/>
          <p:nvPr/>
        </p:nvSpPr>
        <p:spPr>
          <a:xfrm>
            <a:off x="8102600" y="3581301"/>
            <a:ext cx="337489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Be Vietnam Pro" pitchFamily="34" charset="0"/>
                <a:ea typeface="Be Vietnam Pro" pitchFamily="34" charset="-122"/>
                <a:cs typeface="Be Vietnam Pro" pitchFamily="34" charset="-120"/>
              </a:rPr>
              <a:t>Hàng trả về đếm riêng</a:t>
            </a:r>
            <a:endParaRPr lang="en-US" sz="1500" dirty="0"/>
          </a:p>
        </p:txBody>
      </p:sp>
      <p:sp>
        <p:nvSpPr>
          <p:cNvPr id="10" name="Text 8"/>
          <p:cNvSpPr/>
          <p:nvPr/>
        </p:nvSpPr>
        <p:spPr>
          <a:xfrm>
            <a:off x="8102600" y="3879751"/>
            <a:ext cx="337489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5505F"/>
                </a:solidFill>
                <a:latin typeface="Be Vietnam Pro" pitchFamily="34" charset="0"/>
                <a:ea typeface="Be Vietnam Pro" pitchFamily="34" charset="-122"/>
                <a:cs typeface="Be Vietnam Pro" pitchFamily="34" charset="-120"/>
              </a:rPr>
              <a:t>returnFromShelf() tăng cả quantity và returnedQuantity.</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Be Vietnam Pro" pitchFamily="34" charset="0"/>
                <a:ea typeface="Be Vietnam Pro" pitchFamily="34" charset="-122"/>
                <a:cs typeface="Be Vietnam Pro" pitchFamily="34" charset="-120"/>
              </a:rPr>
              <a:t>13 · Quản lý kho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812800" y="2095500"/>
            <a:ext cx="10566400" cy="762000"/>
          </a:xfrm>
          <a:prstGeom prst="roundRect">
            <a:avLst>
              <a:gd name="adj" fmla="val 10000"/>
            </a:avLst>
          </a:prstGeom>
          <a:solidFill>
            <a:srgbClr val="ECE6D8"/>
          </a:solidFill>
          <a:ln/>
        </p:spPr>
      </p:sp>
      <p:sp>
        <p:nvSpPr>
          <p:cNvPr id="3" name="Shape 1"/>
          <p:cNvSpPr/>
          <p:nvPr/>
        </p:nvSpPr>
        <p:spPr>
          <a:xfrm>
            <a:off x="812800" y="4330700"/>
            <a:ext cx="10566400" cy="762000"/>
          </a:xfrm>
          <a:prstGeom prst="roundRect">
            <a:avLst>
              <a:gd name="adj" fmla="val 10000"/>
            </a:avLst>
          </a:prstGeom>
          <a:solidFill>
            <a:srgbClr val="ECE6D8"/>
          </a:solidFill>
          <a:ln/>
        </p:spPr>
      </p:sp>
      <p:sp>
        <p:nvSpPr>
          <p:cNvPr id="4" name="Text 2"/>
          <p:cNvSpPr/>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spc="-50" kern="0" dirty="0">
                <a:solidFill>
                  <a:srgbClr val="0E1A2B"/>
                </a:solidFill>
                <a:latin typeface="Be Vietnam Pro" pitchFamily="34" charset="0"/>
                <a:ea typeface="Be Vietnam Pro" pitchFamily="34" charset="-122"/>
                <a:cs typeface="Be Vietnam Pro" pitchFamily="34" charset="-120"/>
              </a:rPr>
              <a:t>Sơ đồ tuần tự: quản lý tồn kho</a:t>
            </a:r>
            <a:endParaRPr lang="en-US" sz="3600" dirty="0"/>
          </a:p>
        </p:txBody>
      </p:sp>
      <p:pic>
        <p:nvPicPr>
          <p:cNvPr id="5" name="Image 0" descr="line">    </p:cNvPr>
          <p:cNvPicPr>
            <a:picLocks noChangeAspect="1"/>
          </p:cNvPicPr>
          <p:nvPr/>
        </p:nvPicPr>
        <p:blipFill>
          <a:blip r:embed="rId1"/>
          <a:srcRect l="0" r="0" t="0" b="0"/>
          <a:stretch/>
        </p:blipFill>
        <p:spPr>
          <a:xfrm>
            <a:off x="9652000" y="920750"/>
            <a:ext cx="355600" cy="38100"/>
          </a:xfrm>
          <a:prstGeom prst="rect">
            <a:avLst/>
          </a:prstGeom>
        </p:spPr>
      </p:pic>
      <p:sp>
        <p:nvSpPr>
          <p:cNvPr id="6" name="Text 3"/>
          <p:cNvSpPr/>
          <p:nvPr/>
        </p:nvSpPr>
        <p:spPr>
          <a:xfrm>
            <a:off x="10109200" y="8128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gọi hàm</a:t>
            </a:r>
            <a:endParaRPr lang="en-US" sz="1200" dirty="0"/>
          </a:p>
        </p:txBody>
      </p:sp>
      <p:pic>
        <p:nvPicPr>
          <p:cNvPr id="7" name="Image 1" descr="line">    </p:cNvPr>
          <p:cNvPicPr>
            <a:picLocks noChangeAspect="1"/>
          </p:cNvPicPr>
          <p:nvPr/>
        </p:nvPicPr>
        <p:blipFill>
          <a:blip r:embed="rId2"/>
          <a:srcRect l="0" r="0" t="0" b="0"/>
          <a:stretch/>
        </p:blipFill>
        <p:spPr>
          <a:xfrm>
            <a:off x="9652000" y="1136650"/>
            <a:ext cx="355600" cy="38100"/>
          </a:xfrm>
          <a:prstGeom prst="rect">
            <a:avLst/>
          </a:prstGeom>
        </p:spPr>
      </p:pic>
      <p:sp>
        <p:nvSpPr>
          <p:cNvPr id="8" name="Text 4"/>
          <p:cNvSpPr/>
          <p:nvPr/>
        </p:nvSpPr>
        <p:spPr>
          <a:xfrm>
            <a:off x="10109200" y="10287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phát event</a:t>
            </a:r>
            <a:endParaRPr lang="en-US" sz="1200" dirty="0"/>
          </a:p>
        </p:txBody>
      </p:sp>
      <p:pic>
        <p:nvPicPr>
          <p:cNvPr id="9" name="Image 2" descr="line">    </p:cNvPr>
          <p:cNvPicPr>
            <a:picLocks noChangeAspect="1"/>
          </p:cNvPicPr>
          <p:nvPr/>
        </p:nvPicPr>
        <p:blipFill>
          <a:blip r:embed="rId3"/>
          <a:srcRect l="0" r="0" t="0" b="0"/>
          <a:stretch/>
        </p:blipFill>
        <p:spPr>
          <a:xfrm>
            <a:off x="9652000" y="1352550"/>
            <a:ext cx="355600" cy="38100"/>
          </a:xfrm>
          <a:prstGeom prst="rect">
            <a:avLst/>
          </a:prstGeom>
        </p:spPr>
      </p:pic>
      <p:sp>
        <p:nvSpPr>
          <p:cNvPr id="10" name="Text 5"/>
          <p:cNvSpPr/>
          <p:nvPr/>
        </p:nvSpPr>
        <p:spPr>
          <a:xfrm>
            <a:off x="10109200" y="12446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trả kết quả</a:t>
            </a:r>
            <a:endParaRPr lang="en-US" sz="1200" dirty="0"/>
          </a:p>
        </p:txBody>
      </p:sp>
      <p:pic>
        <p:nvPicPr>
          <p:cNvPr id="11" name="Image 3" descr="connector">    </p:cNvPr>
          <p:cNvPicPr>
            <a:picLocks noChangeAspect="1"/>
          </p:cNvPicPr>
          <p:nvPr/>
        </p:nvPicPr>
        <p:blipFill>
          <a:blip r:embed="rId4"/>
          <a:srcRect l="0" r="0" t="0" b="0"/>
          <a:stretch/>
        </p:blipFill>
        <p:spPr>
          <a:xfrm>
            <a:off x="2755900" y="1993900"/>
            <a:ext cx="76200" cy="3860800"/>
          </a:xfrm>
          <a:prstGeom prst="rect">
            <a:avLst/>
          </a:prstGeom>
        </p:spPr>
      </p:pic>
      <p:pic>
        <p:nvPicPr>
          <p:cNvPr id="12" name="Image 4" descr="connector">    </p:cNvPr>
          <p:cNvPicPr>
            <a:picLocks noChangeAspect="1"/>
          </p:cNvPicPr>
          <p:nvPr/>
        </p:nvPicPr>
        <p:blipFill>
          <a:blip r:embed="rId5"/>
          <a:srcRect l="0" r="0" t="0" b="0"/>
          <a:stretch/>
        </p:blipFill>
        <p:spPr>
          <a:xfrm>
            <a:off x="4787900" y="1993900"/>
            <a:ext cx="76200" cy="3860800"/>
          </a:xfrm>
          <a:prstGeom prst="rect">
            <a:avLst/>
          </a:prstGeom>
        </p:spPr>
      </p:pic>
      <p:pic>
        <p:nvPicPr>
          <p:cNvPr id="13" name="Image 5" descr="connector">    </p:cNvPr>
          <p:cNvPicPr>
            <a:picLocks noChangeAspect="1"/>
          </p:cNvPicPr>
          <p:nvPr/>
        </p:nvPicPr>
        <p:blipFill>
          <a:blip r:embed="rId6"/>
          <a:srcRect l="0" r="0" t="0" b="0"/>
          <a:stretch/>
        </p:blipFill>
        <p:spPr>
          <a:xfrm>
            <a:off x="7442200" y="1981200"/>
            <a:ext cx="101600" cy="3886200"/>
          </a:xfrm>
          <a:prstGeom prst="rect">
            <a:avLst/>
          </a:prstGeom>
        </p:spPr>
      </p:pic>
      <p:pic>
        <p:nvPicPr>
          <p:cNvPr id="14" name="Image 6" descr="connector">    </p:cNvPr>
          <p:cNvPicPr>
            <a:picLocks noChangeAspect="1"/>
          </p:cNvPicPr>
          <p:nvPr/>
        </p:nvPicPr>
        <p:blipFill>
          <a:blip r:embed="rId7"/>
          <a:srcRect l="0" r="0" t="0" b="0"/>
          <a:stretch/>
        </p:blipFill>
        <p:spPr>
          <a:xfrm>
            <a:off x="9867900" y="1993900"/>
            <a:ext cx="76200" cy="3860800"/>
          </a:xfrm>
          <a:prstGeom prst="rect">
            <a:avLst/>
          </a:prstGeom>
        </p:spPr>
      </p:pic>
      <p:sp>
        <p:nvSpPr>
          <p:cNvPr id="15" name="Shape 6"/>
          <p:cNvSpPr/>
          <p:nvPr/>
        </p:nvSpPr>
        <p:spPr>
          <a:xfrm>
            <a:off x="2101850" y="1504950"/>
            <a:ext cx="1384300" cy="520700"/>
          </a:xfrm>
          <a:prstGeom prst="roundRect">
            <a:avLst>
              <a:gd name="adj" fmla="val 13415"/>
            </a:avLst>
          </a:prstGeom>
          <a:solidFill>
            <a:srgbClr val="FFFCF5"/>
          </a:solidFill>
          <a:ln w="12700">
            <a:solidFill>
              <a:srgbClr val="2F5FD0"/>
            </a:solidFill>
            <a:prstDash val="solid"/>
          </a:ln>
        </p:spPr>
      </p:sp>
      <p:sp>
        <p:nvSpPr>
          <p:cNvPr id="16" name="Text 7"/>
          <p:cNvSpPr/>
          <p:nvPr/>
        </p:nvSpPr>
        <p:spPr>
          <a:xfrm>
            <a:off x="2268041" y="1551980"/>
            <a:ext cx="11027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Nhà cung cấp</a:t>
            </a:r>
            <a:endParaRPr lang="en-US" sz="1200" dirty="0"/>
          </a:p>
        </p:txBody>
      </p:sp>
      <p:sp>
        <p:nvSpPr>
          <p:cNvPr id="17" name="Text 8"/>
          <p:cNvSpPr/>
          <p:nvPr/>
        </p:nvSpPr>
        <p:spPr>
          <a:xfrm>
            <a:off x="2488009" y="1765300"/>
            <a:ext cx="6627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Supplier</a:t>
            </a:r>
            <a:endParaRPr lang="en-US" sz="1200" dirty="0"/>
          </a:p>
        </p:txBody>
      </p:sp>
      <p:sp>
        <p:nvSpPr>
          <p:cNvPr id="18" name="Shape 9"/>
          <p:cNvSpPr/>
          <p:nvPr/>
        </p:nvSpPr>
        <p:spPr>
          <a:xfrm>
            <a:off x="4133850" y="1504950"/>
            <a:ext cx="1384300" cy="520700"/>
          </a:xfrm>
          <a:prstGeom prst="roundRect">
            <a:avLst>
              <a:gd name="adj" fmla="val 13415"/>
            </a:avLst>
          </a:prstGeom>
          <a:solidFill>
            <a:srgbClr val="FFFCF5"/>
          </a:solidFill>
          <a:ln w="12700">
            <a:solidFill>
              <a:srgbClr val="2F5FD0"/>
            </a:solidFill>
            <a:prstDash val="solid"/>
          </a:ln>
        </p:spPr>
      </p:sp>
      <p:sp>
        <p:nvSpPr>
          <p:cNvPr id="19" name="Text 10"/>
          <p:cNvSpPr/>
          <p:nvPr/>
        </p:nvSpPr>
        <p:spPr>
          <a:xfrm>
            <a:off x="4540548" y="1551980"/>
            <a:ext cx="6217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Siêu thị</a:t>
            </a:r>
            <a:endParaRPr lang="en-US" sz="1200" dirty="0"/>
          </a:p>
        </p:txBody>
      </p:sp>
      <p:sp>
        <p:nvSpPr>
          <p:cNvPr id="20" name="Text 11"/>
          <p:cNvSpPr/>
          <p:nvPr/>
        </p:nvSpPr>
        <p:spPr>
          <a:xfrm>
            <a:off x="4346377" y="1765300"/>
            <a:ext cx="10099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5505F"/>
                </a:solidFill>
                <a:latin typeface="Be Vietnam Pro" pitchFamily="34" charset="0"/>
                <a:ea typeface="Be Vietnam Pro" pitchFamily="34" charset="-122"/>
                <a:cs typeface="Be Vietnam Pro" pitchFamily="34" charset="-120"/>
              </a:rPr>
              <a:t>Supermarket</a:t>
            </a:r>
            <a:endParaRPr lang="en-US" sz="1200" dirty="0"/>
          </a:p>
        </p:txBody>
      </p:sp>
      <p:sp>
        <p:nvSpPr>
          <p:cNvPr id="21" name="Shape 12"/>
          <p:cNvSpPr/>
          <p:nvPr/>
        </p:nvSpPr>
        <p:spPr>
          <a:xfrm>
            <a:off x="6604000" y="1498600"/>
            <a:ext cx="1778000" cy="533400"/>
          </a:xfrm>
          <a:prstGeom prst="roundRect">
            <a:avLst>
              <a:gd name="adj" fmla="val 14286"/>
            </a:avLst>
          </a:prstGeom>
          <a:solidFill>
            <a:srgbClr val="0E1A2B"/>
          </a:solidFill>
          <a:ln/>
        </p:spPr>
      </p:sp>
      <p:sp>
        <p:nvSpPr>
          <p:cNvPr id="22" name="Text 13"/>
          <p:cNvSpPr/>
          <p:nvPr/>
        </p:nvSpPr>
        <p:spPr>
          <a:xfrm>
            <a:off x="7060704" y="1551980"/>
            <a:ext cx="915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2EA"/>
                </a:solidFill>
                <a:latin typeface="Be Vietnam Pro" pitchFamily="34" charset="0"/>
                <a:ea typeface="Be Vietnam Pro" pitchFamily="34" charset="-122"/>
                <a:cs typeface="Be Vietnam Pro" pitchFamily="34" charset="-120"/>
              </a:rPr>
              <a:t>Warehouse</a:t>
            </a:r>
            <a:endParaRPr lang="en-US" sz="1200" dirty="0"/>
          </a:p>
        </p:txBody>
      </p:sp>
      <p:sp>
        <p:nvSpPr>
          <p:cNvPr id="23" name="Text 14"/>
          <p:cNvSpPr/>
          <p:nvPr/>
        </p:nvSpPr>
        <p:spPr>
          <a:xfrm>
            <a:off x="6931819" y="1765300"/>
            <a:ext cx="11731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3D4"/>
                </a:solidFill>
                <a:latin typeface="Be Vietnam Pro" pitchFamily="34" charset="0"/>
                <a:ea typeface="Be Vietnam Pro" pitchFamily="34" charset="-122"/>
                <a:cs typeface="Be Vietnam Pro" pitchFamily="34" charset="-120"/>
              </a:rPr>
              <a:t>smart contract</a:t>
            </a:r>
            <a:endParaRPr lang="en-US" sz="1200" dirty="0"/>
          </a:p>
        </p:txBody>
      </p:sp>
      <p:sp>
        <p:nvSpPr>
          <p:cNvPr id="24" name="Shape 15"/>
          <p:cNvSpPr/>
          <p:nvPr/>
        </p:nvSpPr>
        <p:spPr>
          <a:xfrm>
            <a:off x="9150350" y="1504950"/>
            <a:ext cx="1511300" cy="520700"/>
          </a:xfrm>
          <a:prstGeom prst="roundRect">
            <a:avLst>
              <a:gd name="adj" fmla="val 13415"/>
            </a:avLst>
          </a:prstGeom>
          <a:solidFill>
            <a:srgbClr val="FBEBD2"/>
          </a:solidFill>
          <a:ln w="12700">
            <a:solidFill>
              <a:srgbClr val="9A5200"/>
            </a:solidFill>
            <a:prstDash val="solid"/>
          </a:ln>
        </p:spPr>
      </p:sp>
      <p:sp>
        <p:nvSpPr>
          <p:cNvPr id="25" name="Text 16"/>
          <p:cNvSpPr/>
          <p:nvPr/>
        </p:nvSpPr>
        <p:spPr>
          <a:xfrm>
            <a:off x="9549805" y="1551980"/>
            <a:ext cx="7631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4100"/>
                </a:solidFill>
                <a:latin typeface="Be Vietnam Pro" pitchFamily="34" charset="0"/>
                <a:ea typeface="Be Vietnam Pro" pitchFamily="34" charset="-122"/>
                <a:cs typeface="Be Vietnam Pro" pitchFamily="34" charset="-120"/>
              </a:rPr>
              <a:t>Event log</a:t>
            </a:r>
            <a:endParaRPr lang="en-US" sz="1200" dirty="0"/>
          </a:p>
        </p:txBody>
      </p:sp>
      <p:sp>
        <p:nvSpPr>
          <p:cNvPr id="26" name="Text 17"/>
          <p:cNvSpPr/>
          <p:nvPr/>
        </p:nvSpPr>
        <p:spPr>
          <a:xfrm>
            <a:off x="9321205" y="1765300"/>
            <a:ext cx="12203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4100"/>
                </a:solidFill>
                <a:latin typeface="Be Vietnam Pro" pitchFamily="34" charset="0"/>
                <a:ea typeface="Be Vietnam Pro" pitchFamily="34" charset="-122"/>
                <a:cs typeface="Be Vietnam Pro" pitchFamily="34" charset="-120"/>
              </a:rPr>
              <a:t>dApp lắng nghe</a:t>
            </a:r>
            <a:endParaRPr lang="en-US" sz="1200" dirty="0"/>
          </a:p>
        </p:txBody>
      </p:sp>
      <p:sp>
        <p:nvSpPr>
          <p:cNvPr id="27" name="Text 18"/>
          <p:cNvSpPr/>
          <p:nvPr/>
        </p:nvSpPr>
        <p:spPr>
          <a:xfrm>
            <a:off x="812800" y="2171700"/>
            <a:ext cx="1193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5505F"/>
                </a:solidFill>
                <a:latin typeface="Be Vietnam Pro" pitchFamily="34" charset="0"/>
                <a:ea typeface="Be Vietnam Pro" pitchFamily="34" charset="-122"/>
                <a:cs typeface="Be Vietnam Pro" pitchFamily="34" charset="-120"/>
              </a:rPr>
              <a:t>Nhập hàng</a:t>
            </a:r>
            <a:endParaRPr lang="en-US" sz="1200" dirty="0"/>
          </a:p>
        </p:txBody>
      </p:sp>
      <p:sp>
        <p:nvSpPr>
          <p:cNvPr id="28" name="Text 19"/>
          <p:cNvSpPr/>
          <p:nvPr/>
        </p:nvSpPr>
        <p:spPr>
          <a:xfrm>
            <a:off x="812800" y="2984500"/>
            <a:ext cx="11938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5505F"/>
                </a:solidFill>
                <a:latin typeface="Be Vietnam Pro" pitchFamily="34" charset="0"/>
                <a:ea typeface="Be Vietnam Pro" pitchFamily="34" charset="-122"/>
                <a:cs typeface="Be Vietnam Pro" pitchFamily="34" charset="-120"/>
              </a:rPr>
              <a:t>Lấy hàng lên kệ</a:t>
            </a:r>
            <a:endParaRPr lang="en-US" sz="1200" dirty="0"/>
          </a:p>
        </p:txBody>
      </p:sp>
      <p:sp>
        <p:nvSpPr>
          <p:cNvPr id="29" name="Text 20"/>
          <p:cNvSpPr/>
          <p:nvPr/>
        </p:nvSpPr>
        <p:spPr>
          <a:xfrm>
            <a:off x="812800" y="4406900"/>
            <a:ext cx="11938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5505F"/>
                </a:solidFill>
                <a:latin typeface="Be Vietnam Pro" pitchFamily="34" charset="0"/>
                <a:ea typeface="Be Vietnam Pro" pitchFamily="34" charset="-122"/>
                <a:cs typeface="Be Vietnam Pro" pitchFamily="34" charset="-120"/>
              </a:rPr>
              <a:t>Trả hàng về kho</a:t>
            </a:r>
            <a:endParaRPr lang="en-US" sz="1200" dirty="0"/>
          </a:p>
        </p:txBody>
      </p:sp>
      <p:sp>
        <p:nvSpPr>
          <p:cNvPr id="30" name="Text 21"/>
          <p:cNvSpPr/>
          <p:nvPr/>
        </p:nvSpPr>
        <p:spPr>
          <a:xfrm>
            <a:off x="812800" y="5194300"/>
            <a:ext cx="11938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4100"/>
                </a:solidFill>
                <a:latin typeface="Be Vietnam Pro" pitchFamily="34" charset="0"/>
                <a:ea typeface="Be Vietnam Pro" pitchFamily="34" charset="-122"/>
                <a:cs typeface="Be Vietnam Pro" pitchFamily="34" charset="-120"/>
              </a:rPr>
              <a:t>Ngoại lệ: không đủ hàng</a:t>
            </a:r>
            <a:endParaRPr lang="en-US" sz="1200" dirty="0"/>
          </a:p>
        </p:txBody>
      </p:sp>
      <p:pic>
        <p:nvPicPr>
          <p:cNvPr id="31" name="Image 7" descr="connector">    </p:cNvPr>
          <p:cNvPicPr>
            <a:picLocks noChangeAspect="1"/>
          </p:cNvPicPr>
          <p:nvPr/>
        </p:nvPicPr>
        <p:blipFill>
          <a:blip r:embed="rId8"/>
          <a:srcRect l="0" r="0" t="0" b="0"/>
          <a:stretch/>
        </p:blipFill>
        <p:spPr>
          <a:xfrm>
            <a:off x="2743200" y="2362200"/>
            <a:ext cx="4800600" cy="101600"/>
          </a:xfrm>
          <a:prstGeom prst="rect">
            <a:avLst/>
          </a:prstGeom>
        </p:spPr>
      </p:pic>
      <p:sp>
        <p:nvSpPr>
          <p:cNvPr id="32" name="Shape 22"/>
          <p:cNvSpPr/>
          <p:nvPr/>
        </p:nvSpPr>
        <p:spPr>
          <a:xfrm>
            <a:off x="3968750" y="2159000"/>
            <a:ext cx="2349500" cy="213320"/>
          </a:xfrm>
          <a:prstGeom prst="rect">
            <a:avLst/>
          </a:prstGeom>
          <a:solidFill>
            <a:srgbClr val="ECE6D8"/>
          </a:solidFill>
          <a:ln/>
        </p:spPr>
      </p:sp>
      <p:sp>
        <p:nvSpPr>
          <p:cNvPr id="33" name="Text 23"/>
          <p:cNvSpPr/>
          <p:nvPr/>
        </p:nvSpPr>
        <p:spPr>
          <a:xfrm>
            <a:off x="3933508" y="2159000"/>
            <a:ext cx="2419985"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2F5FD0"/>
                </a:solidFill>
                <a:latin typeface="JetBrains Mono" pitchFamily="34" charset="0"/>
                <a:ea typeface="JetBrains Mono" pitchFamily="34" charset="-122"/>
                <a:cs typeface="JetBrains Mono" pitchFamily="34" charset="-120"/>
              </a:rPr>
              <a:t>receiveStock(id, amount)</a:t>
            </a:r>
            <a:endParaRPr lang="en-US" sz="1200" dirty="0"/>
          </a:p>
        </p:txBody>
      </p:sp>
      <p:pic>
        <p:nvPicPr>
          <p:cNvPr id="34" name="Image 8" descr="connector">    </p:cNvPr>
          <p:cNvPicPr>
            <a:picLocks noChangeAspect="1"/>
          </p:cNvPicPr>
          <p:nvPr/>
        </p:nvPicPr>
        <p:blipFill>
          <a:blip r:embed="rId9"/>
          <a:srcRect l="0" r="0" t="0" b="0"/>
          <a:stretch/>
        </p:blipFill>
        <p:spPr>
          <a:xfrm>
            <a:off x="7442200" y="2679700"/>
            <a:ext cx="2514600" cy="101600"/>
          </a:xfrm>
          <a:prstGeom prst="rect">
            <a:avLst/>
          </a:prstGeom>
        </p:spPr>
      </p:pic>
      <p:sp>
        <p:nvSpPr>
          <p:cNvPr id="35" name="Shape 24"/>
          <p:cNvSpPr/>
          <p:nvPr/>
        </p:nvSpPr>
        <p:spPr>
          <a:xfrm>
            <a:off x="8026400" y="2476500"/>
            <a:ext cx="1339850" cy="213320"/>
          </a:xfrm>
          <a:prstGeom prst="rect">
            <a:avLst/>
          </a:prstGeom>
          <a:solidFill>
            <a:srgbClr val="ECE6D8"/>
          </a:solidFill>
          <a:ln/>
        </p:spPr>
      </p:sp>
      <p:sp>
        <p:nvSpPr>
          <p:cNvPr id="36" name="Text 25"/>
          <p:cNvSpPr/>
          <p:nvPr/>
        </p:nvSpPr>
        <p:spPr>
          <a:xfrm>
            <a:off x="8001000" y="2476500"/>
            <a:ext cx="1390650"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9A5200"/>
                </a:solidFill>
                <a:latin typeface="JetBrains Mono" pitchFamily="34" charset="0"/>
                <a:ea typeface="JetBrains Mono" pitchFamily="34" charset="-122"/>
                <a:cs typeface="JetBrains Mono" pitchFamily="34" charset="-120"/>
              </a:rPr>
              <a:t>StockReceived</a:t>
            </a:r>
            <a:endParaRPr lang="en-US" sz="1200" dirty="0"/>
          </a:p>
        </p:txBody>
      </p:sp>
      <p:pic>
        <p:nvPicPr>
          <p:cNvPr id="37" name="Image 9" descr="connector">    </p:cNvPr>
          <p:cNvPicPr>
            <a:picLocks noChangeAspect="1"/>
          </p:cNvPicPr>
          <p:nvPr/>
        </p:nvPicPr>
        <p:blipFill>
          <a:blip r:embed="rId10"/>
          <a:srcRect l="0" r="0" t="0" b="0"/>
          <a:stretch/>
        </p:blipFill>
        <p:spPr>
          <a:xfrm>
            <a:off x="4775200" y="3162300"/>
            <a:ext cx="2768600" cy="101600"/>
          </a:xfrm>
          <a:prstGeom prst="rect">
            <a:avLst/>
          </a:prstGeom>
        </p:spPr>
      </p:pic>
      <p:sp>
        <p:nvSpPr>
          <p:cNvPr id="38" name="Shape 26"/>
          <p:cNvSpPr/>
          <p:nvPr/>
        </p:nvSpPr>
        <p:spPr>
          <a:xfrm>
            <a:off x="5530850" y="2959100"/>
            <a:ext cx="1250950" cy="213320"/>
          </a:xfrm>
          <a:prstGeom prst="rect">
            <a:avLst/>
          </a:prstGeom>
          <a:solidFill>
            <a:srgbClr val="F5F2EA"/>
          </a:solidFill>
          <a:ln/>
        </p:spPr>
      </p:sp>
      <p:sp>
        <p:nvSpPr>
          <p:cNvPr id="39" name="Text 27"/>
          <p:cNvSpPr/>
          <p:nvPr/>
        </p:nvSpPr>
        <p:spPr>
          <a:xfrm>
            <a:off x="5505450" y="2959100"/>
            <a:ext cx="1301750"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2F5FD0"/>
                </a:solidFill>
                <a:latin typeface="JetBrains Mono" pitchFamily="34" charset="0"/>
                <a:ea typeface="JetBrains Mono" pitchFamily="34" charset="-122"/>
                <a:cs typeface="JetBrains Mono" pitchFamily="34" charset="-120"/>
              </a:rPr>
              <a:t>getStock(id)</a:t>
            </a:r>
            <a:endParaRPr lang="en-US" sz="1200" dirty="0"/>
          </a:p>
        </p:txBody>
      </p:sp>
      <p:pic>
        <p:nvPicPr>
          <p:cNvPr id="40" name="Image 10" descr="connector">    </p:cNvPr>
          <p:cNvPicPr>
            <a:picLocks noChangeAspect="1"/>
          </p:cNvPicPr>
          <p:nvPr/>
        </p:nvPicPr>
        <p:blipFill>
          <a:blip r:embed="rId11"/>
          <a:srcRect l="0" r="0" t="0" b="0"/>
          <a:stretch/>
        </p:blipFill>
        <p:spPr>
          <a:xfrm>
            <a:off x="4787900" y="3492500"/>
            <a:ext cx="2743200" cy="76200"/>
          </a:xfrm>
          <a:prstGeom prst="rect">
            <a:avLst/>
          </a:prstGeom>
        </p:spPr>
      </p:pic>
      <p:sp>
        <p:nvSpPr>
          <p:cNvPr id="41" name="Shape 28"/>
          <p:cNvSpPr/>
          <p:nvPr/>
        </p:nvSpPr>
        <p:spPr>
          <a:xfrm>
            <a:off x="5715000" y="3276600"/>
            <a:ext cx="882650" cy="213320"/>
          </a:xfrm>
          <a:prstGeom prst="rect">
            <a:avLst/>
          </a:prstGeom>
          <a:solidFill>
            <a:srgbClr val="F5F2EA"/>
          </a:solidFill>
          <a:ln/>
        </p:spPr>
      </p:sp>
      <p:sp>
        <p:nvSpPr>
          <p:cNvPr id="42" name="Text 29"/>
          <p:cNvSpPr/>
          <p:nvPr/>
        </p:nvSpPr>
        <p:spPr>
          <a:xfrm>
            <a:off x="5689600" y="3276600"/>
            <a:ext cx="933450"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45505F"/>
                </a:solidFill>
                <a:latin typeface="JetBrains Mono" pitchFamily="34" charset="0"/>
                <a:ea typeface="JetBrains Mono" pitchFamily="34" charset="-122"/>
                <a:cs typeface="JetBrains Mono" pitchFamily="34" charset="-120"/>
              </a:rPr>
              <a:t>quantity</a:t>
            </a:r>
            <a:endParaRPr lang="en-US" sz="1200" dirty="0"/>
          </a:p>
        </p:txBody>
      </p:sp>
      <p:pic>
        <p:nvPicPr>
          <p:cNvPr id="43" name="Image 11" descr="connector">    </p:cNvPr>
          <p:cNvPicPr>
            <a:picLocks noChangeAspect="1"/>
          </p:cNvPicPr>
          <p:nvPr/>
        </p:nvPicPr>
        <p:blipFill>
          <a:blip r:embed="rId12"/>
          <a:srcRect l="0" r="0" t="0" b="0"/>
          <a:stretch/>
        </p:blipFill>
        <p:spPr>
          <a:xfrm>
            <a:off x="4775200" y="3797300"/>
            <a:ext cx="2768600" cy="101600"/>
          </a:xfrm>
          <a:prstGeom prst="rect">
            <a:avLst/>
          </a:prstGeom>
        </p:spPr>
      </p:pic>
      <p:sp>
        <p:nvSpPr>
          <p:cNvPr id="44" name="Shape 30"/>
          <p:cNvSpPr/>
          <p:nvPr/>
        </p:nvSpPr>
        <p:spPr>
          <a:xfrm>
            <a:off x="4984750" y="3594100"/>
            <a:ext cx="2349500" cy="213320"/>
          </a:xfrm>
          <a:prstGeom prst="rect">
            <a:avLst/>
          </a:prstGeom>
          <a:solidFill>
            <a:srgbClr val="F5F2EA"/>
          </a:solidFill>
          <a:ln/>
        </p:spPr>
      </p:sp>
      <p:sp>
        <p:nvSpPr>
          <p:cNvPr id="45" name="Text 31"/>
          <p:cNvSpPr/>
          <p:nvPr/>
        </p:nvSpPr>
        <p:spPr>
          <a:xfrm>
            <a:off x="4949508" y="3594100"/>
            <a:ext cx="2419985"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2F5FD0"/>
                </a:solidFill>
                <a:latin typeface="JetBrains Mono" pitchFamily="34" charset="0"/>
                <a:ea typeface="JetBrains Mono" pitchFamily="34" charset="-122"/>
                <a:cs typeface="JetBrains Mono" pitchFamily="34" charset="-120"/>
              </a:rPr>
              <a:t>takeForShelf(id, amount)</a:t>
            </a:r>
            <a:endParaRPr lang="en-US" sz="1200" dirty="0"/>
          </a:p>
        </p:txBody>
      </p:sp>
      <p:pic>
        <p:nvPicPr>
          <p:cNvPr id="46" name="Image 12" descr="connector">    </p:cNvPr>
          <p:cNvPicPr>
            <a:picLocks noChangeAspect="1"/>
          </p:cNvPicPr>
          <p:nvPr/>
        </p:nvPicPr>
        <p:blipFill>
          <a:blip r:embed="rId13"/>
          <a:srcRect l="0" r="0" t="0" b="0"/>
          <a:stretch/>
        </p:blipFill>
        <p:spPr>
          <a:xfrm>
            <a:off x="7442200" y="4114800"/>
            <a:ext cx="2514600" cy="101600"/>
          </a:xfrm>
          <a:prstGeom prst="rect">
            <a:avLst/>
          </a:prstGeom>
        </p:spPr>
      </p:pic>
      <p:sp>
        <p:nvSpPr>
          <p:cNvPr id="47" name="Shape 32"/>
          <p:cNvSpPr/>
          <p:nvPr/>
        </p:nvSpPr>
        <p:spPr>
          <a:xfrm>
            <a:off x="8026400" y="3911600"/>
            <a:ext cx="1339850" cy="213320"/>
          </a:xfrm>
          <a:prstGeom prst="rect">
            <a:avLst/>
          </a:prstGeom>
          <a:solidFill>
            <a:srgbClr val="F5F2EA"/>
          </a:solidFill>
          <a:ln/>
        </p:spPr>
      </p:sp>
      <p:sp>
        <p:nvSpPr>
          <p:cNvPr id="48" name="Text 33"/>
          <p:cNvSpPr/>
          <p:nvPr/>
        </p:nvSpPr>
        <p:spPr>
          <a:xfrm>
            <a:off x="8001000" y="3911600"/>
            <a:ext cx="1390650"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9A5200"/>
                </a:solidFill>
                <a:latin typeface="JetBrains Mono" pitchFamily="34" charset="0"/>
                <a:ea typeface="JetBrains Mono" pitchFamily="34" charset="-122"/>
                <a:cs typeface="JetBrains Mono" pitchFamily="34" charset="-120"/>
              </a:rPr>
              <a:t>TakenForShelf</a:t>
            </a:r>
            <a:endParaRPr lang="en-US" sz="1200" dirty="0"/>
          </a:p>
        </p:txBody>
      </p:sp>
      <p:pic>
        <p:nvPicPr>
          <p:cNvPr id="49" name="Image 13" descr="connector">    </p:cNvPr>
          <p:cNvPicPr>
            <a:picLocks noChangeAspect="1"/>
          </p:cNvPicPr>
          <p:nvPr/>
        </p:nvPicPr>
        <p:blipFill>
          <a:blip r:embed="rId14"/>
          <a:srcRect l="0" r="0" t="0" b="0"/>
          <a:stretch/>
        </p:blipFill>
        <p:spPr>
          <a:xfrm>
            <a:off x="4775200" y="4597400"/>
            <a:ext cx="2768600" cy="101600"/>
          </a:xfrm>
          <a:prstGeom prst="rect">
            <a:avLst/>
          </a:prstGeom>
        </p:spPr>
      </p:pic>
      <p:sp>
        <p:nvSpPr>
          <p:cNvPr id="50" name="Shape 34"/>
          <p:cNvSpPr/>
          <p:nvPr/>
        </p:nvSpPr>
        <p:spPr>
          <a:xfrm>
            <a:off x="4845050" y="4394200"/>
            <a:ext cx="2622550" cy="213320"/>
          </a:xfrm>
          <a:prstGeom prst="rect">
            <a:avLst/>
          </a:prstGeom>
          <a:solidFill>
            <a:srgbClr val="ECE6D8"/>
          </a:solidFill>
          <a:ln/>
        </p:spPr>
      </p:sp>
      <p:sp>
        <p:nvSpPr>
          <p:cNvPr id="51" name="Text 35"/>
          <p:cNvSpPr/>
          <p:nvPr/>
        </p:nvSpPr>
        <p:spPr>
          <a:xfrm>
            <a:off x="4805712" y="4394200"/>
            <a:ext cx="2701226"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2F5FD0"/>
                </a:solidFill>
                <a:latin typeface="JetBrains Mono" pitchFamily="34" charset="0"/>
                <a:ea typeface="JetBrains Mono" pitchFamily="34" charset="-122"/>
                <a:cs typeface="JetBrains Mono" pitchFamily="34" charset="-120"/>
              </a:rPr>
              <a:t>returnFromShelf(id, amount)</a:t>
            </a:r>
            <a:endParaRPr lang="en-US" sz="1200" dirty="0"/>
          </a:p>
        </p:txBody>
      </p:sp>
      <p:pic>
        <p:nvPicPr>
          <p:cNvPr id="52" name="Image 14" descr="connector">    </p:cNvPr>
          <p:cNvPicPr>
            <a:picLocks noChangeAspect="1"/>
          </p:cNvPicPr>
          <p:nvPr/>
        </p:nvPicPr>
        <p:blipFill>
          <a:blip r:embed="rId15"/>
          <a:srcRect l="0" r="0" t="0" b="0"/>
          <a:stretch/>
        </p:blipFill>
        <p:spPr>
          <a:xfrm>
            <a:off x="7442200" y="4914900"/>
            <a:ext cx="2514600" cy="101600"/>
          </a:xfrm>
          <a:prstGeom prst="rect">
            <a:avLst/>
          </a:prstGeom>
        </p:spPr>
      </p:pic>
      <p:sp>
        <p:nvSpPr>
          <p:cNvPr id="53" name="Shape 36"/>
          <p:cNvSpPr/>
          <p:nvPr/>
        </p:nvSpPr>
        <p:spPr>
          <a:xfrm>
            <a:off x="7753350" y="4711700"/>
            <a:ext cx="1892300" cy="213320"/>
          </a:xfrm>
          <a:prstGeom prst="rect">
            <a:avLst/>
          </a:prstGeom>
          <a:solidFill>
            <a:srgbClr val="ECE6D8"/>
          </a:solidFill>
          <a:ln/>
        </p:spPr>
      </p:sp>
      <p:sp>
        <p:nvSpPr>
          <p:cNvPr id="54" name="Text 37"/>
          <p:cNvSpPr/>
          <p:nvPr/>
        </p:nvSpPr>
        <p:spPr>
          <a:xfrm>
            <a:off x="7724965" y="4711700"/>
            <a:ext cx="1949069"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9A5200"/>
                </a:solidFill>
                <a:latin typeface="JetBrains Mono" pitchFamily="34" charset="0"/>
                <a:ea typeface="JetBrains Mono" pitchFamily="34" charset="-122"/>
                <a:cs typeface="JetBrains Mono" pitchFamily="34" charset="-120"/>
              </a:rPr>
              <a:t>ReturnedToWarehouse</a:t>
            </a:r>
            <a:endParaRPr lang="en-US" sz="1200" dirty="0"/>
          </a:p>
        </p:txBody>
      </p:sp>
      <p:pic>
        <p:nvPicPr>
          <p:cNvPr id="55" name="Image 15" descr="connector">    </p:cNvPr>
          <p:cNvPicPr>
            <a:picLocks noChangeAspect="1"/>
          </p:cNvPicPr>
          <p:nvPr/>
        </p:nvPicPr>
        <p:blipFill>
          <a:blip r:embed="rId16"/>
          <a:srcRect l="0" r="0" t="0" b="0"/>
          <a:stretch/>
        </p:blipFill>
        <p:spPr>
          <a:xfrm>
            <a:off x="4775200" y="5397500"/>
            <a:ext cx="2768600" cy="101600"/>
          </a:xfrm>
          <a:prstGeom prst="rect">
            <a:avLst/>
          </a:prstGeom>
        </p:spPr>
      </p:pic>
      <p:sp>
        <p:nvSpPr>
          <p:cNvPr id="56" name="Shape 38"/>
          <p:cNvSpPr/>
          <p:nvPr/>
        </p:nvSpPr>
        <p:spPr>
          <a:xfrm>
            <a:off x="4940300" y="5194300"/>
            <a:ext cx="2438400" cy="213320"/>
          </a:xfrm>
          <a:prstGeom prst="rect">
            <a:avLst/>
          </a:prstGeom>
          <a:solidFill>
            <a:srgbClr val="F5F2EA"/>
          </a:solidFill>
          <a:ln/>
        </p:spPr>
      </p:sp>
      <p:sp>
        <p:nvSpPr>
          <p:cNvPr id="57" name="Text 39"/>
          <p:cNvSpPr/>
          <p:nvPr/>
        </p:nvSpPr>
        <p:spPr>
          <a:xfrm>
            <a:off x="4903724" y="5194300"/>
            <a:ext cx="2511552"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7A4100"/>
                </a:solidFill>
                <a:latin typeface="JetBrains Mono" pitchFamily="34" charset="0"/>
                <a:ea typeface="JetBrains Mono" pitchFamily="34" charset="-122"/>
                <a:cs typeface="JetBrains Mono" pitchFamily="34" charset="-120"/>
              </a:rPr>
              <a:t>takeForShelf(quá tồn kho)</a:t>
            </a:r>
            <a:endParaRPr lang="en-US" sz="1200" dirty="0"/>
          </a:p>
        </p:txBody>
      </p:sp>
      <p:pic>
        <p:nvPicPr>
          <p:cNvPr id="58" name="Image 16" descr="connector">    </p:cNvPr>
          <p:cNvPicPr>
            <a:picLocks noChangeAspect="1"/>
          </p:cNvPicPr>
          <p:nvPr/>
        </p:nvPicPr>
        <p:blipFill>
          <a:blip r:embed="rId17"/>
          <a:srcRect l="0" r="0" t="0" b="0"/>
          <a:stretch/>
        </p:blipFill>
        <p:spPr>
          <a:xfrm>
            <a:off x="4787900" y="5727700"/>
            <a:ext cx="2743200" cy="76200"/>
          </a:xfrm>
          <a:prstGeom prst="rect">
            <a:avLst/>
          </a:prstGeom>
        </p:spPr>
      </p:pic>
      <p:sp>
        <p:nvSpPr>
          <p:cNvPr id="59" name="Shape 40"/>
          <p:cNvSpPr/>
          <p:nvPr/>
        </p:nvSpPr>
        <p:spPr>
          <a:xfrm>
            <a:off x="4984750" y="5511800"/>
            <a:ext cx="2349500" cy="213320"/>
          </a:xfrm>
          <a:prstGeom prst="rect">
            <a:avLst/>
          </a:prstGeom>
          <a:solidFill>
            <a:srgbClr val="F5F2EA"/>
          </a:solidFill>
          <a:ln/>
        </p:spPr>
      </p:sp>
      <p:sp>
        <p:nvSpPr>
          <p:cNvPr id="60" name="Text 41"/>
          <p:cNvSpPr/>
          <p:nvPr/>
        </p:nvSpPr>
        <p:spPr>
          <a:xfrm>
            <a:off x="4949508" y="5511800"/>
            <a:ext cx="2419985" cy="238720"/>
          </a:xfrm>
          <a:prstGeom prst="rect">
            <a:avLst/>
          </a:prstGeom>
          <a:noFill/>
          <a:ln/>
        </p:spPr>
        <p:txBody>
          <a:bodyPr wrap="none" lIns="0" tIns="0" rIns="0" bIns="0" rtlCol="0" anchor="t">
            <a:normAutofit/>
          </a:bodyPr>
          <a:lstStyle/>
          <a:p>
            <a:pPr algn="ctr" indent="0" marL="0">
              <a:lnSpc>
                <a:spcPts val="1680"/>
              </a:lnSpc>
              <a:buNone/>
            </a:pPr>
            <a:r>
              <a:rPr lang="en-US" sz="1200" dirty="0">
                <a:solidFill>
                  <a:srgbClr val="7A4100"/>
                </a:solidFill>
                <a:latin typeface="JetBrains Mono" pitchFamily="34" charset="0"/>
                <a:ea typeface="JetBrains Mono" pitchFamily="34" charset="-122"/>
                <a:cs typeface="JetBrains Mono" pitchFamily="34" charset="-120"/>
              </a:rPr>
              <a:t>revert: Not enough stock</a:t>
            </a:r>
            <a:endParaRPr lang="en-US" sz="1200" dirty="0"/>
          </a:p>
        </p:txBody>
      </p:sp>
      <p:sp>
        <p:nvSpPr>
          <p:cNvPr id="61" name="Text 4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Be Vietnam Pro" pitchFamily="34" charset="0"/>
                <a:ea typeface="Be Vietnam Pro" pitchFamily="34" charset="-122"/>
                <a:cs typeface="Be Vietnam Pro" pitchFamily="34" charset="-120"/>
              </a:rPr>
              <a:t>14 · Quản lý kho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spc="-50" kern="0" dirty="0">
                <a:solidFill>
                  <a:srgbClr val="0E1A2B"/>
                </a:solidFill>
                <a:latin typeface="Be Vietnam Pro" pitchFamily="34" charset="0"/>
                <a:ea typeface="Be Vietnam Pro" pitchFamily="34" charset="-122"/>
                <a:cs typeface="Be Vietnam Pro" pitchFamily="34" charset="-120"/>
              </a:rPr>
              <a:t>Kiểm chứng trên Remix VM</a:t>
            </a:r>
            <a:endParaRPr lang="en-US" sz="3600" dirty="0"/>
          </a:p>
        </p:txBody>
      </p:sp>
      <p:sp>
        <p:nvSpPr>
          <p:cNvPr id="3" name="Text 1"/>
          <p:cNvSpPr/>
          <p:nvPr/>
        </p:nvSpPr>
        <p:spPr>
          <a:xfrm>
            <a:off x="812800" y="1541760"/>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5505F"/>
                </a:solidFill>
                <a:latin typeface="Be Vietnam Pro" pitchFamily="34" charset="0"/>
                <a:ea typeface="Be Vietnam Pro" pitchFamily="34" charset="-122"/>
                <a:cs typeface="Be Vietnam Pro" pitchFamily="34" charset="-120"/>
              </a:rPr>
              <a:t>Solidity 0.8.24 · Remix VM (Cancun) · 3 tài khoản: Sender, Carrier, Receiver</a:t>
            </a:r>
            <a:endParaRPr lang="en-US" sz="1500" dirty="0"/>
          </a:p>
        </p:txBody>
      </p:sp>
      <p:sp>
        <p:nvSpPr>
          <p:cNvPr id="4" name="Shape 2"/>
          <p:cNvSpPr/>
          <p:nvPr/>
        </p:nvSpPr>
        <p:spPr>
          <a:xfrm>
            <a:off x="812800" y="2021185"/>
            <a:ext cx="10566400" cy="2405757"/>
          </a:xfrm>
          <a:prstGeom prst="roundRect">
            <a:avLst>
              <a:gd name="adj" fmla="val 4223"/>
            </a:avLst>
          </a:prstGeom>
          <a:solidFill>
            <a:srgbClr val="FFFCF5"/>
          </a:solidFill>
          <a:ln/>
        </p:spPr>
      </p:sp>
      <p:sp>
        <p:nvSpPr>
          <p:cNvPr id="5" name="Shape 3"/>
          <p:cNvSpPr/>
          <p:nvPr/>
        </p:nvSpPr>
        <p:spPr>
          <a:xfrm>
            <a:off x="812800" y="2021185"/>
            <a:ext cx="10566400" cy="2405757"/>
          </a:xfrm>
          <a:custGeom>
            <a:avLst/>
            <a:gdLst/>
            <a:ahLst/>
            <a:cxnLst/>
            <a:rect l="l" t="t" r="r" b="b"/>
            <a:pathLst>
              <a:path w="10566400" h="2405757">
                <a:moveTo>
                  <a:pt x="10464800" y="0"/>
                </a:moveTo>
                <a:lnTo>
                  <a:pt x="10464800" y="0"/>
                </a:lnTo>
                <a:arcTo hR="101600" wR="101600" stAng="16200000" swAng="5400000"/>
                <a:lnTo>
                  <a:pt x="10566400" y="2304157"/>
                </a:lnTo>
                <a:arcTo hR="101600" wR="101600" stAng="0" swAng="5400000"/>
                <a:lnTo>
                  <a:pt x="101600" y="2405757"/>
                </a:lnTo>
                <a:arcTo hR="101600" wR="101600" stAng="5400000" swAng="5400000"/>
                <a:lnTo>
                  <a:pt x="0" y="2304157"/>
                </a:lnTo>
                <a:arcTo hR="95250" wR="101600" stAng="10800000" swAng="-5400000"/>
                <a:lnTo>
                  <a:pt x="10464800" y="2399407"/>
                </a:lnTo>
                <a:arcTo hR="95250" wR="95250" stAng="5400000" swAng="-5400000"/>
                <a:lnTo>
                  <a:pt x="10560050" y="101600"/>
                </a:lnTo>
                <a:arcTo hR="101600" wR="95250" stAng="0" swAng="-5400000"/>
                <a:close/>
              </a:path>
            </a:pathLst>
          </a:custGeom>
          <a:solidFill>
            <a:srgbClr val="E2DCCD"/>
          </a:solidFill>
          <a:ln/>
        </p:spPr>
      </p:sp>
      <p:sp>
        <p:nvSpPr>
          <p:cNvPr id="6" name="Shape 4"/>
          <p:cNvSpPr/>
          <p:nvPr/>
        </p:nvSpPr>
        <p:spPr>
          <a:xfrm>
            <a:off x="812800" y="2021185"/>
            <a:ext cx="10566400" cy="2405757"/>
          </a:xfrm>
          <a:custGeom>
            <a:avLst/>
            <a:gdLst/>
            <a:ahLst/>
            <a:cxnLst/>
            <a:rect l="l" t="t" r="r" b="b"/>
            <a:pathLst>
              <a:path w="10566400" h="2405757">
                <a:moveTo>
                  <a:pt x="101600" y="2405757"/>
                </a:moveTo>
                <a:lnTo>
                  <a:pt x="101600" y="2405757"/>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304157"/>
                </a:lnTo>
                <a:arcTo hR="101600" wR="889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033885"/>
          <a:ext cx="10547350" cy="2386707"/>
        </p:xfrm>
        <a:graphic>
          <a:graphicData uri="http://schemas.openxmlformats.org/drawingml/2006/table">
            <a:tbl>
              <a:tblPr/>
              <a:tblGrid>
                <a:gridCol w="527368"/>
                <a:gridCol w="1476629"/>
                <a:gridCol w="4957254"/>
                <a:gridCol w="3586099"/>
              </a:tblGrid>
              <a:tr h="359271">
                <a:tc>
                  <a:txBody>
                    <a:bodyPr/>
                    <a:lstStyle/>
                    <a:p>
                      <a:pPr indent="0" marL="0">
                        <a:lnSpc>
                          <a:spcPts val="1820"/>
                        </a:lnSpc>
                        <a:buNone/>
                      </a:pPr>
                      <a:r>
                        <a:rPr lang="en-US" sz="1300" b="1" dirty="0">
                          <a:solidFill>
                            <a:srgbClr val="F5F2EA"/>
                          </a:solidFill>
                          <a:latin typeface="Be Vietnam Pro" pitchFamily="34" charset="0"/>
                          <a:ea typeface="Be Vietnam Pro" pitchFamily="34" charset="-122"/>
                          <a:cs typeface="Be Vietnam Pro" pitchFamily="34" charset="-120"/>
                        </a:rPr>
                        <a:t>#</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0F1926"/>
                      </a:solidFill>
                      <a:prstDash val="solid"/>
                      <a:round/>
                      <a:headEnd type="none" w="med" len="med"/>
                      <a:tailEnd type="none" w="med" len="med"/>
                    </a:lnR>
                    <a:lnT w="0" cap="flat" cmpd="sng" algn="ctr">
                      <a:noFill/>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820"/>
                        </a:lnSpc>
                        <a:buNone/>
                      </a:pPr>
                      <a:r>
                        <a:rPr lang="en-US" sz="1300" b="1" dirty="0">
                          <a:solidFill>
                            <a:srgbClr val="F5F2EA"/>
                          </a:solidFill>
                          <a:latin typeface="Be Vietnam Pro" pitchFamily="34" charset="0"/>
                          <a:ea typeface="Be Vietnam Pro" pitchFamily="34" charset="-122"/>
                          <a:cs typeface="Be Vietnam Pro" pitchFamily="34" charset="-120"/>
                        </a:rPr>
                        <a:t>Tài khoản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0" cap="flat" cmpd="sng" algn="ctr">
                      <a:noFill/>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820"/>
                        </a:lnSpc>
                        <a:buNone/>
                      </a:pPr>
                      <a:r>
                        <a:rPr lang="en-US" sz="1300" b="1" dirty="0">
                          <a:solidFill>
                            <a:srgbClr val="F5F2EA"/>
                          </a:solidFill>
                          <a:latin typeface="Be Vietnam Pro" pitchFamily="34" charset="0"/>
                          <a:ea typeface="Be Vietnam Pro" pitchFamily="34" charset="-122"/>
                          <a:cs typeface="Be Vietnam Pro" pitchFamily="34" charset="-120"/>
                        </a:rPr>
                        <a:t>Lời gọi hàm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0" cap="flat" cmpd="sng" algn="ctr">
                      <a:noFill/>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820"/>
                        </a:lnSpc>
                        <a:buNone/>
                      </a:pPr>
                      <a:r>
                        <a:rPr lang="en-US" sz="1300" b="1" dirty="0">
                          <a:solidFill>
                            <a:srgbClr val="F5F2EA"/>
                          </a:solidFill>
                          <a:latin typeface="Be Vietnam Pro" pitchFamily="34" charset="0"/>
                          <a:ea typeface="Be Vietnam Pro" pitchFamily="34" charset="-122"/>
                          <a:cs typeface="Be Vietnam Pro" pitchFamily="34" charset="-120"/>
                        </a:rPr>
                        <a:t>Kết quả mong đợi</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0" cap="flat" cmpd="sng" algn="ctr">
                      <a:noFill/>
                    </a:lnT>
                    <a:lnB w="12700" cap="flat" cmpd="sng" algn="ctr">
                      <a:solidFill>
                        <a:srgbClr val="0F1926"/>
                      </a:solidFill>
                      <a:prstDash val="solid"/>
                      <a:round/>
                      <a:headEnd type="none" w="med" len="med"/>
                      <a:tailEnd type="none" w="med" len="med"/>
                    </a:lnB>
                    <a:solidFill>
                      <a:srgbClr val="0E1A2B"/>
                    </a:solidFill>
                  </a:tcPr>
                </a:tc>
              </a:tr>
              <a:tr h="590352">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1</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Sender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createShipment(Carrier, Receiver, "Laptop", "Ha Noi", "HCM")</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Lô hàng #1, event ShipmentCreated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2</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Carrier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updateStatus(1, 1, "Ha Noi warehouse", "Picked up")</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PickedUp</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3</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Carrier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updateStatus(1, 2, "Da Nang", "In transit")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InTransit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4</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Carrier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updateStatus(1, 3, "HCM", "Delivered")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Delivered, lưu deliveredAt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5</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Bất kỳ</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getShipment(1) / getHistory(1)</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Status 3, 4 dòng lịch sử</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Be Vietnam Pro" pitchFamily="34" charset="0"/>
                <a:ea typeface="Be Vietnam Pro" pitchFamily="34" charset="-122"/>
                <a:cs typeface="Be Vietnam Pro" pitchFamily="34" charset="-120"/>
              </a:rPr>
              <a:t>15 · Tính khả thi</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spc="-50" kern="0" dirty="0">
                <a:solidFill>
                  <a:srgbClr val="0E1A2B"/>
                </a:solidFill>
                <a:latin typeface="Be Vietnam Pro" pitchFamily="34" charset="0"/>
                <a:ea typeface="Be Vietnam Pro" pitchFamily="34" charset="-122"/>
                <a:cs typeface="Be Vietnam Pro" pitchFamily="34" charset="-120"/>
              </a:rPr>
              <a:t>Tích hợp: hợp đồng khác gọi qua interface</a:t>
            </a:r>
            <a:endParaRPr lang="en-US" sz="3600" dirty="0"/>
          </a:p>
        </p:txBody>
      </p:sp>
      <p:sp>
        <p:nvSpPr>
          <p:cNvPr id="3" name="Shape 1"/>
          <p:cNvSpPr/>
          <p:nvPr/>
        </p:nvSpPr>
        <p:spPr>
          <a:xfrm>
            <a:off x="812800" y="1643360"/>
            <a:ext cx="10566400" cy="1833761"/>
          </a:xfrm>
          <a:prstGeom prst="roundRect">
            <a:avLst>
              <a:gd name="adj" fmla="val 6926"/>
            </a:avLst>
          </a:prstGeom>
          <a:solidFill>
            <a:srgbClr val="0E1A2B"/>
          </a:solidFill>
          <a:ln/>
        </p:spPr>
      </p:sp>
      <p:sp>
        <p:nvSpPr>
          <p:cNvPr id="4" name="Text 2"/>
          <p:cNvSpPr/>
          <p:nvPr/>
        </p:nvSpPr>
        <p:spPr>
          <a:xfrm>
            <a:off x="1066800" y="1897360"/>
            <a:ext cx="10360152" cy="1351161"/>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8A97AB"/>
                </a:solidFill>
                <a:latin typeface="JetBrains Mono" pitchFamily="34" charset="0"/>
                <a:ea typeface="JetBrains Mono" pitchFamily="34" charset="-122"/>
                <a:cs typeface="JetBrains Mono" pitchFamily="34" charset="-120"/>
              </a:rPr>
              <a:t>// Chỉ cần địa chỉ hợp đồng đã deploy</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IWarehouse warehouse = IWarehouse(warehouseAddress);</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warehouse.takeForShelf(productId, </a:t>
            </a:r>
            <a:r>
              <a:rPr lang="en-US" sz="1200" dirty="0">
                <a:solidFill>
                  <a:srgbClr val="F2B35A"/>
                </a:solidFill>
                <a:latin typeface="JetBrains Mono" pitchFamily="34" charset="0"/>
                <a:ea typeface="JetBrains Mono" pitchFamily="34" charset="-122"/>
                <a:cs typeface="JetBrains Mono" pitchFamily="34" charset="-120"/>
              </a:rPr>
              <a:t>10</a:t>
            </a:r>
            <a:r>
              <a:rPr lang="en-US" sz="1200" dirty="0">
                <a:solidFill>
                  <a:srgbClr val="E6E1D6"/>
                </a:solidFill>
                <a:latin typeface="JetBrains Mono" pitchFamily="34" charset="0"/>
                <a:ea typeface="JetBrains Mono" pitchFamily="34" charset="-122"/>
                <a:cs typeface="JetBrains Mono" pitchFamily="34"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ILogisticsTracking tracking = ILogisticsTracking(trackingAddress);</a:t>
            </a:r>
            <a:endParaRPr lang="en-US" sz="1200" dirty="0"/>
          </a:p>
          <a:p>
            <a:pPr algn="l" indent="0" marL="0">
              <a:lnSpc>
                <a:spcPts val="1740"/>
              </a:lnSpc>
              <a:buNone/>
            </a:pPr>
            <a:r>
              <a:rPr lang="en-US" sz="1200" dirty="0">
                <a:solidFill>
                  <a:srgbClr val="E6E1D6"/>
                </a:solidFill>
                <a:latin typeface="JetBrains Mono" pitchFamily="34" charset="0"/>
                <a:ea typeface="JetBrains Mono" pitchFamily="34" charset="-122"/>
                <a:cs typeface="JetBrains Mono" pitchFamily="34" charset="-120"/>
              </a:rPr>
              <a:t>tracking.getHistory(shipmentId);</a:t>
            </a:r>
            <a:endParaRPr lang="en-US" sz="1200" dirty="0"/>
          </a:p>
        </p:txBody>
      </p:sp>
      <p:sp>
        <p:nvSpPr>
          <p:cNvPr id="5" name="Shape 3"/>
          <p:cNvSpPr/>
          <p:nvPr/>
        </p:nvSpPr>
        <p:spPr>
          <a:xfrm>
            <a:off x="815975" y="3785096"/>
            <a:ext cx="3380284" cy="1178520"/>
          </a:xfrm>
          <a:prstGeom prst="roundRect">
            <a:avLst>
              <a:gd name="adj" fmla="val 8352"/>
            </a:avLst>
          </a:prstGeom>
          <a:solidFill>
            <a:srgbClr val="FFFCF5"/>
          </a:solidFill>
          <a:ln w="6350">
            <a:solidFill>
              <a:srgbClr val="E2DCCD"/>
            </a:solidFill>
            <a:prstDash val="solid"/>
          </a:ln>
        </p:spPr>
      </p:sp>
      <p:sp>
        <p:nvSpPr>
          <p:cNvPr id="6" name="Text 4"/>
          <p:cNvSpPr/>
          <p:nvPr/>
        </p:nvSpPr>
        <p:spPr>
          <a:xfrm>
            <a:off x="1073150" y="3991471"/>
            <a:ext cx="2951912"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Be Vietnam Pro" pitchFamily="34" charset="0"/>
                <a:ea typeface="Be Vietnam Pro" pitchFamily="34" charset="-122"/>
                <a:cs typeface="Be Vietnam Pro" pitchFamily="34" charset="-120"/>
              </a:rPr>
              <a:t>Siêu thị</a:t>
            </a:r>
            <a:endParaRPr lang="en-US" sz="1500" dirty="0"/>
          </a:p>
        </p:txBody>
      </p:sp>
      <p:sp>
        <p:nvSpPr>
          <p:cNvPr id="7" name="Text 5"/>
          <p:cNvSpPr/>
          <p:nvPr/>
        </p:nvSpPr>
        <p:spPr>
          <a:xfrm>
            <a:off x="1073150" y="4315321"/>
            <a:ext cx="295191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5505F"/>
                </a:solidFill>
                <a:latin typeface="Be Vietnam Pro" pitchFamily="34" charset="0"/>
                <a:ea typeface="Be Vietnam Pro" pitchFamily="34" charset="-122"/>
                <a:cs typeface="Be Vietnam Pro" pitchFamily="34" charset="-120"/>
              </a:rPr>
              <a:t>Tự động lấy hàng lên kệ từ hợp đồng của mình</a:t>
            </a:r>
            <a:endParaRPr lang="en-US" sz="1200" dirty="0"/>
          </a:p>
        </p:txBody>
      </p:sp>
      <p:sp>
        <p:nvSpPr>
          <p:cNvPr id="8" name="Shape 6"/>
          <p:cNvSpPr/>
          <p:nvPr/>
        </p:nvSpPr>
        <p:spPr>
          <a:xfrm>
            <a:off x="4405809" y="3785096"/>
            <a:ext cx="3380383" cy="1178520"/>
          </a:xfrm>
          <a:prstGeom prst="roundRect">
            <a:avLst>
              <a:gd name="adj" fmla="val 8352"/>
            </a:avLst>
          </a:prstGeom>
          <a:solidFill>
            <a:srgbClr val="FFFCF5"/>
          </a:solidFill>
          <a:ln w="6350">
            <a:solidFill>
              <a:srgbClr val="E2DCCD"/>
            </a:solidFill>
            <a:prstDash val="solid"/>
          </a:ln>
        </p:spPr>
      </p:sp>
      <p:sp>
        <p:nvSpPr>
          <p:cNvPr id="9" name="Text 7"/>
          <p:cNvSpPr/>
          <p:nvPr/>
        </p:nvSpPr>
        <p:spPr>
          <a:xfrm>
            <a:off x="4662984" y="3991471"/>
            <a:ext cx="295201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Be Vietnam Pro" pitchFamily="34" charset="0"/>
                <a:ea typeface="Be Vietnam Pro" pitchFamily="34" charset="-122"/>
                <a:cs typeface="Be Vietnam Pro" pitchFamily="34" charset="-120"/>
              </a:rPr>
              <a:t>Đơn vị vận chuyển</a:t>
            </a:r>
            <a:endParaRPr lang="en-US" sz="1500" dirty="0"/>
          </a:p>
        </p:txBody>
      </p:sp>
      <p:sp>
        <p:nvSpPr>
          <p:cNvPr id="10" name="Text 8"/>
          <p:cNvSpPr/>
          <p:nvPr/>
        </p:nvSpPr>
        <p:spPr>
          <a:xfrm>
            <a:off x="4662984" y="4315321"/>
            <a:ext cx="295201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5505F"/>
                </a:solidFill>
                <a:latin typeface="Be Vietnam Pro" pitchFamily="34" charset="0"/>
                <a:ea typeface="Be Vietnam Pro" pitchFamily="34" charset="-122"/>
                <a:cs typeface="Be Vietnam Pro" pitchFamily="34" charset="-120"/>
              </a:rPr>
              <a:t>Ứng dụng tài xế gọi updateStatus tại mỗi chặng</a:t>
            </a:r>
            <a:endParaRPr lang="en-US" sz="1200" dirty="0"/>
          </a:p>
        </p:txBody>
      </p:sp>
      <p:sp>
        <p:nvSpPr>
          <p:cNvPr id="11" name="Shape 9"/>
          <p:cNvSpPr/>
          <p:nvPr/>
        </p:nvSpPr>
        <p:spPr>
          <a:xfrm>
            <a:off x="7995741" y="3785096"/>
            <a:ext cx="3380284" cy="1178520"/>
          </a:xfrm>
          <a:prstGeom prst="roundRect">
            <a:avLst>
              <a:gd name="adj" fmla="val 8352"/>
            </a:avLst>
          </a:prstGeom>
          <a:solidFill>
            <a:srgbClr val="FFFCF5"/>
          </a:solidFill>
          <a:ln w="6350">
            <a:solidFill>
              <a:srgbClr val="E2DCCD"/>
            </a:solidFill>
            <a:prstDash val="solid"/>
          </a:ln>
        </p:spPr>
      </p:sp>
      <p:sp>
        <p:nvSpPr>
          <p:cNvPr id="12" name="Text 10"/>
          <p:cNvSpPr/>
          <p:nvPr/>
        </p:nvSpPr>
        <p:spPr>
          <a:xfrm>
            <a:off x="8252916" y="3991471"/>
            <a:ext cx="2951912"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4213D"/>
                </a:solidFill>
                <a:latin typeface="Be Vietnam Pro" pitchFamily="34" charset="0"/>
                <a:ea typeface="Be Vietnam Pro" pitchFamily="34" charset="-122"/>
                <a:cs typeface="Be Vietnam Pro" pitchFamily="34" charset="-120"/>
              </a:rPr>
              <a:t>Người nhận</a:t>
            </a:r>
            <a:endParaRPr lang="en-US" sz="1500" dirty="0"/>
          </a:p>
        </p:txBody>
      </p:sp>
      <p:sp>
        <p:nvSpPr>
          <p:cNvPr id="13" name="Text 11"/>
          <p:cNvSpPr/>
          <p:nvPr/>
        </p:nvSpPr>
        <p:spPr>
          <a:xfrm>
            <a:off x="8252916" y="4315321"/>
            <a:ext cx="295191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5505F"/>
                </a:solidFill>
                <a:latin typeface="Be Vietnam Pro" pitchFamily="34" charset="0"/>
                <a:ea typeface="Be Vietnam Pro" pitchFamily="34" charset="-122"/>
                <a:cs typeface="Be Vietnam Pro" pitchFamily="34" charset="-120"/>
              </a:rPr>
              <a:t>Tra cứu hành trình qua getHistory và event</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Be Vietnam Pro" pitchFamily="34" charset="0"/>
                <a:ea typeface="Be Vietnam Pro" pitchFamily="34" charset="-122"/>
                <a:cs typeface="Be Vietnam Pro" pitchFamily="34" charset="-120"/>
              </a:rPr>
              <a:t>16 · Tính khả thi</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spc="-50" kern="0" dirty="0">
                <a:solidFill>
                  <a:srgbClr val="0E1A2B"/>
                </a:solidFill>
                <a:latin typeface="Be Vietnam Pro" pitchFamily="34" charset="0"/>
                <a:ea typeface="Be Vietnam Pro" pitchFamily="34" charset="-122"/>
                <a:cs typeface="Be Vietnam Pro" pitchFamily="34" charset="-120"/>
              </a:rPr>
              <a:t>Giới hạn hiện tại và hướng phát triển</a:t>
            </a:r>
            <a:endParaRPr lang="en-US" sz="3600" dirty="0"/>
          </a:p>
        </p:txBody>
      </p:sp>
      <p:sp>
        <p:nvSpPr>
          <p:cNvPr id="3" name="Shape 1"/>
          <p:cNvSpPr/>
          <p:nvPr/>
        </p:nvSpPr>
        <p:spPr>
          <a:xfrm>
            <a:off x="812800" y="1643360"/>
            <a:ext cx="10566400" cy="2174677"/>
          </a:xfrm>
          <a:prstGeom prst="roundRect">
            <a:avLst>
              <a:gd name="adj" fmla="val 4672"/>
            </a:avLst>
          </a:prstGeom>
          <a:solidFill>
            <a:srgbClr val="FFFCF5"/>
          </a:solidFill>
          <a:ln/>
        </p:spPr>
      </p:sp>
      <p:sp>
        <p:nvSpPr>
          <p:cNvPr id="4" name="Shape 2"/>
          <p:cNvSpPr/>
          <p:nvPr/>
        </p:nvSpPr>
        <p:spPr>
          <a:xfrm>
            <a:off x="812800" y="1643360"/>
            <a:ext cx="10566400" cy="2174677"/>
          </a:xfrm>
          <a:custGeom>
            <a:avLst/>
            <a:gdLst/>
            <a:ahLst/>
            <a:cxnLst/>
            <a:rect l="l" t="t" r="r" b="b"/>
            <a:pathLst>
              <a:path w="10566400" h="2174677">
                <a:moveTo>
                  <a:pt x="10464800" y="0"/>
                </a:moveTo>
                <a:lnTo>
                  <a:pt x="10464800" y="0"/>
                </a:lnTo>
                <a:arcTo hR="101600" wR="101600" stAng="16200000" swAng="5400000"/>
                <a:lnTo>
                  <a:pt x="10566400" y="2073077"/>
                </a:lnTo>
                <a:arcTo hR="101600" wR="101600" stAng="0" swAng="5400000"/>
                <a:lnTo>
                  <a:pt x="101600" y="2174677"/>
                </a:lnTo>
                <a:arcTo hR="101600" wR="101600" stAng="5400000" swAng="5400000"/>
                <a:lnTo>
                  <a:pt x="0" y="2073077"/>
                </a:lnTo>
                <a:arcTo hR="95250" wR="101600" stAng="10800000" swAng="-5400000"/>
                <a:lnTo>
                  <a:pt x="10464800" y="2168327"/>
                </a:lnTo>
                <a:arcTo hR="95250" wR="95250" stAng="5400000" swAng="-5400000"/>
                <a:lnTo>
                  <a:pt x="10560050" y="101600"/>
                </a:lnTo>
                <a:arcTo hR="101600" wR="95250" stAng="0" swAng="-5400000"/>
                <a:close/>
              </a:path>
            </a:pathLst>
          </a:custGeom>
          <a:solidFill>
            <a:srgbClr val="E2DCCD"/>
          </a:solidFill>
          <a:ln/>
        </p:spPr>
      </p:sp>
      <p:sp>
        <p:nvSpPr>
          <p:cNvPr id="5" name="Shape 3"/>
          <p:cNvSpPr/>
          <p:nvPr/>
        </p:nvSpPr>
        <p:spPr>
          <a:xfrm>
            <a:off x="812800" y="1643360"/>
            <a:ext cx="10566400" cy="2174677"/>
          </a:xfrm>
          <a:custGeom>
            <a:avLst/>
            <a:gdLst/>
            <a:ahLst/>
            <a:cxnLst/>
            <a:rect l="l" t="t" r="r" b="b"/>
            <a:pathLst>
              <a:path w="10566400" h="2174677">
                <a:moveTo>
                  <a:pt x="101600" y="2174677"/>
                </a:moveTo>
                <a:lnTo>
                  <a:pt x="101600" y="2174677"/>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073077"/>
                </a:lnTo>
                <a:arcTo hR="101600" wR="889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656060"/>
          <a:ext cx="10547350" cy="2155627"/>
        </p:xfrm>
        <a:graphic>
          <a:graphicData uri="http://schemas.openxmlformats.org/drawingml/2006/table">
            <a:tbl>
              <a:tblPr/>
              <a:tblGrid>
                <a:gridCol w="5273675"/>
                <a:gridCol w="5273675"/>
              </a:tblGrid>
              <a:tr h="359271">
                <a:tc>
                  <a:txBody>
                    <a:bodyPr/>
                    <a:lstStyle/>
                    <a:p>
                      <a:pPr indent="0" marL="0">
                        <a:lnSpc>
                          <a:spcPts val="1820"/>
                        </a:lnSpc>
                        <a:buNone/>
                      </a:pPr>
                      <a:r>
                        <a:rPr lang="en-US" sz="1300" b="1" dirty="0">
                          <a:solidFill>
                            <a:srgbClr val="F5F2EA"/>
                          </a:solidFill>
                          <a:latin typeface="Be Vietnam Pro" pitchFamily="34" charset="0"/>
                          <a:ea typeface="Be Vietnam Pro" pitchFamily="34" charset="-122"/>
                          <a:cs typeface="Be Vietnam Pro" pitchFamily="34" charset="-120"/>
                        </a:rPr>
                        <a:t>Hiện tại</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0F1926"/>
                      </a:solidFill>
                      <a:prstDash val="solid"/>
                      <a:round/>
                      <a:headEnd type="none" w="med" len="med"/>
                      <a:tailEnd type="none" w="med" len="med"/>
                    </a:lnR>
                    <a:lnT w="0" cap="flat" cmpd="sng" algn="ctr">
                      <a:noFill/>
                    </a:lnT>
                    <a:lnB w="12700" cap="flat" cmpd="sng" algn="ctr">
                      <a:solidFill>
                        <a:srgbClr val="0F1926"/>
                      </a:solidFill>
                      <a:prstDash val="solid"/>
                      <a:round/>
                      <a:headEnd type="none" w="med" len="med"/>
                      <a:tailEnd type="none" w="med" len="med"/>
                    </a:lnB>
                    <a:solidFill>
                      <a:srgbClr val="0E1A2B"/>
                    </a:solidFill>
                  </a:tcPr>
                </a:tc>
                <a:tc>
                  <a:txBody>
                    <a:bodyPr/>
                    <a:lstStyle/>
                    <a:p>
                      <a:pPr indent="0" marL="0">
                        <a:lnSpc>
                          <a:spcPts val="1820"/>
                        </a:lnSpc>
                        <a:buNone/>
                      </a:pPr>
                      <a:r>
                        <a:rPr lang="en-US" sz="1300" b="1" dirty="0">
                          <a:solidFill>
                            <a:srgbClr val="F2B35A"/>
                          </a:solidFill>
                          <a:latin typeface="Be Vietnam Pro" pitchFamily="34" charset="0"/>
                          <a:ea typeface="Be Vietnam Pro" pitchFamily="34" charset="-122"/>
                          <a:cs typeface="Be Vietnam Pro" pitchFamily="34" charset="-120"/>
                        </a:rPr>
                        <a:t>Hướng tiếp theo</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0" cap="flat" cmpd="sng" algn="ctr">
                      <a:noFill/>
                    </a:lnT>
                    <a:lnB w="12700" cap="flat" cmpd="sng" algn="ctr">
                      <a:solidFill>
                        <a:srgbClr val="0F1926"/>
                      </a:solidFill>
                      <a:prstDash val="solid"/>
                      <a:round/>
                      <a:headEnd type="none" w="med" len="med"/>
                      <a:tailEnd type="none" w="med" len="med"/>
                    </a:lnB>
                    <a:solidFill>
                      <a:srgbClr val="0E1A2B"/>
                    </a:solidFill>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updateStatus chưa ép thứ tự trạng thái</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Chỉ cho phép Created → PickedUp → InTransit → Delivered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Danh sách carrier được duyệt chưa được kiểm tra khi tạo đơn</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Bắt buộc isAuthorizedCarrier trong createShipment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Warehouse chưa phân quyền, ví nào cũng gọi được</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Phân vai trò cho nhà cung cấp, kho và siêu thị</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Mô tả, địa điểm lưu thẳng on-chain: tốn gas, công khai</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Lưu hash on-chain, dữ liệu chi tiết ở IPFS hoặc off-chain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Mới chạy trên Remix VM, chưa có giao diện</a:t>
                      </a:r>
                      <a:endParaRPr lang="en-US" sz="1300" dirty="0">
                        <a:latin typeface="Be Vietnam Pro" charset="0"/>
                        <a:ea typeface="Be Vietnam Pro" charset="0"/>
                        <a:cs typeface="Be Vietnam Pro" charset="0"/>
                      </a:endParaRPr>
                    </a:p>
                  </a:txBody>
                  <a:tcPr marL="57785" marR="57785" marT="57785" marB="57785" anchor="t">
                    <a:lnL w="0" cap="flat" cmpd="sng" algn="ctr">
                      <a:noFill/>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Be Vietnam Pro" pitchFamily="34" charset="0"/>
                          <a:ea typeface="Be Vietnam Pro" pitchFamily="34" charset="-122"/>
                          <a:cs typeface="Be Vietnam Pro" pitchFamily="34" charset="-120"/>
                        </a:rPr>
                        <a:t>Deploy Sepolia testnet và làm dApp web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9C3"/>
                      </a:solidFill>
                      <a:prstDash val="solid"/>
                      <a:round/>
                      <a:headEnd type="none" w="med" len="med"/>
                      <a:tailEnd type="none" w="med" len="med"/>
                    </a:lnL>
                    <a:lnR w="12700" cap="flat" cmpd="sng" algn="ctr">
                      <a:solidFill>
                        <a:srgbClr val="CBC9C3"/>
                      </a:solidFill>
                      <a:prstDash val="solid"/>
                      <a:round/>
                      <a:headEnd type="none" w="med" len="med"/>
                      <a:tailEnd type="none" w="med" len="med"/>
                    </a:lnR>
                    <a:lnT w="12700" cap="flat" cmpd="sng" algn="ctr">
                      <a:solidFill>
                        <a:srgbClr val="CBC9C3"/>
                      </a:solidFill>
                      <a:prstDash val="solid"/>
                      <a:round/>
                      <a:headEnd type="none" w="med" len="med"/>
                      <a:tailEnd type="none" w="med" len="med"/>
                    </a:lnT>
                    <a:lnB w="12700" cap="flat" cmpd="sng" algn="ctr">
                      <a:solidFill>
                        <a:srgbClr val="CBC9C3"/>
                      </a:solidFill>
                      <a:prstDash val="solid"/>
                      <a:round/>
                      <a:headEnd type="none" w="med" len="med"/>
                      <a:tailEnd type="none" w="med" len="med"/>
                    </a:lnB>
                  </a:tcPr>
                </a:tc>
              </a:tr>
            </a:tbl>
          </a:graphicData>
        </a:graphic>
      </p:graphicFrame>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Be Vietnam Pro" pitchFamily="34" charset="0"/>
                <a:ea typeface="Be Vietnam Pro" pitchFamily="34" charset="-122"/>
                <a:cs typeface="Be Vietnam Pro" pitchFamily="34" charset="-120"/>
              </a:rPr>
              <a:t>17 · Hướng phát triển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B35A"/>
                </a:solidFill>
                <a:latin typeface="JetBrains Mono" pitchFamily="34" charset="0"/>
                <a:ea typeface="JetBrains Mono" pitchFamily="34" charset="-122"/>
                <a:cs typeface="JetBrains Mono" pitchFamily="34" charset="-120"/>
              </a:rPr>
              <a:t>KẾT LUẬN</a:t>
            </a:r>
            <a:endParaRPr lang="en-US" sz="1200" dirty="0"/>
          </a:p>
        </p:txBody>
      </p:sp>
      <p:sp>
        <p:nvSpPr>
          <p:cNvPr id="3" name="Text 1"/>
          <p:cNvSpPr/>
          <p:nvPr/>
        </p:nvSpPr>
        <p:spPr>
          <a:xfrm>
            <a:off x="812800" y="1825427"/>
            <a:ext cx="10883392" cy="1671141"/>
          </a:xfrm>
          <a:prstGeom prst="rect">
            <a:avLst/>
          </a:prstGeom>
          <a:noFill/>
          <a:ln/>
        </p:spPr>
        <p:txBody>
          <a:bodyPr wrap="square" lIns="0" tIns="0" rIns="0" bIns="0" rtlCol="0" anchor="t">
            <a:normAutofit/>
          </a:bodyPr>
          <a:lstStyle/>
          <a:p>
            <a:pPr algn="l" indent="0" marL="0">
              <a:lnSpc>
                <a:spcPts val="4320"/>
              </a:lnSpc>
              <a:buNone/>
            </a:pPr>
            <a:r>
              <a:rPr lang="en-US" sz="3600" b="1" spc="-50" kern="0" dirty="0">
                <a:solidFill>
                  <a:srgbClr val="F5F2EA"/>
                </a:solidFill>
                <a:latin typeface="Be Vietnam Pro" pitchFamily="34" charset="0"/>
                <a:ea typeface="Be Vietnam Pro" pitchFamily="34" charset="-122"/>
                <a:cs typeface="Be Vietnam Pro" pitchFamily="34" charset="-120"/>
              </a:rPr>
              <a:t>Smart contract biến lịch sử vận chuyển và tồn kho thành dữ liệu chung, có chữ ký và không thể sửa.</a:t>
            </a:r>
            <a:endParaRPr lang="en-US" sz="3600" dirty="0"/>
          </a:p>
        </p:txBody>
      </p:sp>
      <p:sp>
        <p:nvSpPr>
          <p:cNvPr id="4" name="Shape 2"/>
          <p:cNvSpPr/>
          <p:nvPr/>
        </p:nvSpPr>
        <p:spPr>
          <a:xfrm>
            <a:off x="825500" y="4270573"/>
            <a:ext cx="0" cy="619720"/>
          </a:xfrm>
          <a:prstGeom prst="line">
            <a:avLst/>
          </a:prstGeom>
          <a:noFill/>
          <a:ln w="25400">
            <a:solidFill>
              <a:srgbClr val="F2B35A"/>
            </a:solidFill>
            <a:prstDash val="solid"/>
          </a:ln>
        </p:spPr>
      </p:sp>
      <p:sp>
        <p:nvSpPr>
          <p:cNvPr id="5" name="Text 3"/>
          <p:cNvSpPr/>
          <p:nvPr/>
        </p:nvSpPr>
        <p:spPr>
          <a:xfrm>
            <a:off x="1016000" y="4270573"/>
            <a:ext cx="32789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5F2EA"/>
                </a:solidFill>
                <a:latin typeface="Be Vietnam Pro" pitchFamily="34" charset="0"/>
                <a:ea typeface="Be Vietnam Pro" pitchFamily="34" charset="-122"/>
                <a:cs typeface="Be Vietnam Pro" pitchFamily="34" charset="-120"/>
              </a:rPr>
              <a:t>2 hợp đồng</a:t>
            </a:r>
            <a:endParaRPr lang="en-US" sz="2000" dirty="0"/>
          </a:p>
        </p:txBody>
      </p:sp>
      <p:sp>
        <p:nvSpPr>
          <p:cNvPr id="6" name="Text 4"/>
          <p:cNvSpPr/>
          <p:nvPr/>
        </p:nvSpPr>
        <p:spPr>
          <a:xfrm>
            <a:off x="1016000" y="4676973"/>
            <a:ext cx="32789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3D4"/>
                </a:solidFill>
                <a:latin typeface="Be Vietnam Pro" pitchFamily="34" charset="0"/>
                <a:ea typeface="Be Vietnam Pro" pitchFamily="34" charset="-122"/>
                <a:cs typeface="Be Vietnam Pro" pitchFamily="34" charset="-120"/>
              </a:rPr>
              <a:t>LogisticsTracking, Warehouse</a:t>
            </a:r>
            <a:endParaRPr lang="en-US" sz="1200" dirty="0"/>
          </a:p>
        </p:txBody>
      </p:sp>
      <p:sp>
        <p:nvSpPr>
          <p:cNvPr id="7" name="Shape 5"/>
          <p:cNvSpPr/>
          <p:nvPr/>
        </p:nvSpPr>
        <p:spPr>
          <a:xfrm>
            <a:off x="4415334" y="4270573"/>
            <a:ext cx="0" cy="619720"/>
          </a:xfrm>
          <a:prstGeom prst="line">
            <a:avLst/>
          </a:prstGeom>
          <a:noFill/>
          <a:ln w="25400">
            <a:solidFill>
              <a:srgbClr val="F2B35A"/>
            </a:solidFill>
            <a:prstDash val="solid"/>
          </a:ln>
        </p:spPr>
      </p:sp>
      <p:sp>
        <p:nvSpPr>
          <p:cNvPr id="8" name="Text 6"/>
          <p:cNvSpPr/>
          <p:nvPr/>
        </p:nvSpPr>
        <p:spPr>
          <a:xfrm>
            <a:off x="4605834" y="4270573"/>
            <a:ext cx="327903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5F2EA"/>
                </a:solidFill>
                <a:latin typeface="Be Vietnam Pro" pitchFamily="34" charset="0"/>
                <a:ea typeface="Be Vietnam Pro" pitchFamily="34" charset="-122"/>
                <a:cs typeface="Be Vietnam Pro" pitchFamily="34" charset="-120"/>
              </a:rPr>
              <a:t>2 interface</a:t>
            </a:r>
            <a:endParaRPr lang="en-US" sz="2000" dirty="0"/>
          </a:p>
        </p:txBody>
      </p:sp>
      <p:sp>
        <p:nvSpPr>
          <p:cNvPr id="9" name="Text 7"/>
          <p:cNvSpPr/>
          <p:nvPr/>
        </p:nvSpPr>
        <p:spPr>
          <a:xfrm>
            <a:off x="4605834" y="4676973"/>
            <a:ext cx="32790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3D4"/>
                </a:solidFill>
                <a:latin typeface="Be Vietnam Pro" pitchFamily="34" charset="0"/>
                <a:ea typeface="Be Vietnam Pro" pitchFamily="34" charset="-122"/>
                <a:cs typeface="Be Vietnam Pro" pitchFamily="34" charset="-120"/>
              </a:rPr>
              <a:t>Tích hợp bằng địa chỉ đã deploy</a:t>
            </a:r>
            <a:endParaRPr lang="en-US" sz="1200" dirty="0"/>
          </a:p>
        </p:txBody>
      </p:sp>
      <p:sp>
        <p:nvSpPr>
          <p:cNvPr id="10" name="Shape 8"/>
          <p:cNvSpPr/>
          <p:nvPr/>
        </p:nvSpPr>
        <p:spPr>
          <a:xfrm>
            <a:off x="8005266" y="4270573"/>
            <a:ext cx="0" cy="619720"/>
          </a:xfrm>
          <a:prstGeom prst="line">
            <a:avLst/>
          </a:prstGeom>
          <a:noFill/>
          <a:ln w="25400">
            <a:solidFill>
              <a:srgbClr val="F2B35A"/>
            </a:solidFill>
            <a:prstDash val="solid"/>
          </a:ln>
        </p:spPr>
      </p:sp>
      <p:sp>
        <p:nvSpPr>
          <p:cNvPr id="11" name="Text 9"/>
          <p:cNvSpPr/>
          <p:nvPr/>
        </p:nvSpPr>
        <p:spPr>
          <a:xfrm>
            <a:off x="8195766" y="4270573"/>
            <a:ext cx="32789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5F2EA"/>
                </a:solidFill>
                <a:latin typeface="Be Vietnam Pro" pitchFamily="34" charset="0"/>
                <a:ea typeface="Be Vietnam Pro" pitchFamily="34" charset="-122"/>
                <a:cs typeface="Be Vietnam Pro" pitchFamily="34" charset="-120"/>
              </a:rPr>
              <a:t>Chạy được</a:t>
            </a:r>
            <a:endParaRPr lang="en-US" sz="2000" dirty="0"/>
          </a:p>
        </p:txBody>
      </p:sp>
      <p:sp>
        <p:nvSpPr>
          <p:cNvPr id="12" name="Text 10"/>
          <p:cNvSpPr/>
          <p:nvPr/>
        </p:nvSpPr>
        <p:spPr>
          <a:xfrm>
            <a:off x="8195766" y="4676973"/>
            <a:ext cx="32789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3D4"/>
                </a:solidFill>
                <a:latin typeface="Be Vietnam Pro" pitchFamily="34" charset="0"/>
                <a:ea typeface="Be Vietnam Pro" pitchFamily="34" charset="-122"/>
                <a:cs typeface="Be Vietnam Pro" pitchFamily="34" charset="-120"/>
              </a:rPr>
              <a:t>Kịch bản kiểm thử trên Remix VM</a:t>
            </a:r>
            <a:endParaRPr lang="en-US" sz="1200" dirty="0"/>
          </a:p>
        </p:txBody>
      </p:sp>
      <p:sp>
        <p:nvSpPr>
          <p:cNvPr id="13" name="Text 11"/>
          <p:cNvSpPr/>
          <p:nvPr/>
        </p:nvSpPr>
        <p:spPr>
          <a:xfrm>
            <a:off x="812800" y="5689600"/>
            <a:ext cx="221283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5F2EA"/>
                </a:solidFill>
                <a:latin typeface="Be Vietnam Pro" pitchFamily="34" charset="0"/>
                <a:ea typeface="Be Vietnam Pro" pitchFamily="34" charset="-122"/>
                <a:cs typeface="Be Vietnam Pro" pitchFamily="34" charset="-120"/>
              </a:rPr>
              <a:t>Cảm ơn · Hỏi đáp</a:t>
            </a:r>
            <a:endParaRPr lang="en-US" sz="2000" dirty="0"/>
          </a:p>
        </p:txBody>
      </p:sp>
      <p:sp>
        <p:nvSpPr>
          <p:cNvPr id="14" name="Text 12"/>
          <p:cNvSpPr/>
          <p:nvPr/>
        </p:nvSpPr>
        <p:spPr>
          <a:xfrm>
            <a:off x="6807200" y="583188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C"/>
                </a:solidFill>
                <a:latin typeface="JetBrains Mono" pitchFamily="34" charset="0"/>
                <a:ea typeface="JetBrains Mono" pitchFamily="34" charset="-122"/>
                <a:cs typeface="JetBrains Mono" pitchFamily="34" charset="-120"/>
              </a:rPr>
              <a:t>github.com/hominhduc-dev/logistics-smart-contracts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cho Logistics và Quản lý Kho</dc:title>
  <dc:subject>PptxGenJS Presentation</dc:subject>
  <dc:creator>PptxGenJS</dc:creator>
  <cp:lastModifiedBy>PptxGenJS</cp:lastModifiedBy>
  <cp:revision>1</cp:revision>
  <dcterms:created xsi:type="dcterms:W3CDTF">2026-09-28T01:27:37Z</dcterms:created>
  <dcterms:modified xsi:type="dcterms:W3CDTF">2026-09-28T01:27:37Z</dcterms:modified>
</cp:coreProperties>
</file>